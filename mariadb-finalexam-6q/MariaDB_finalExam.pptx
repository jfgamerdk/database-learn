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86" r:id="rId3"/>
    <p:sldId id="310" r:id="rId4"/>
    <p:sldId id="312" r:id="rId5"/>
    <p:sldId id="314" r:id="rId6"/>
    <p:sldId id="313" r:id="rId7"/>
    <p:sldId id="315" r:id="rId8"/>
    <p:sldId id="316"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hy4G8+HWoJPGzCE4rg0YB8YtJx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92E"/>
    <a:srgbClr val="0000FF"/>
    <a:srgbClr val="A5A5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86183" autoAdjust="0"/>
  </p:normalViewPr>
  <p:slideViewPr>
    <p:cSldViewPr snapToGrid="0">
      <p:cViewPr varScale="1">
        <p:scale>
          <a:sx n="98" d="100"/>
          <a:sy n="98" d="100"/>
        </p:scale>
        <p:origin x="1050"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24" Type="http://customschemas.google.com/relationships/presentationmetadata" Target="metadata"/><Relationship Id="rId5" Type="http://schemas.openxmlformats.org/officeDocument/2006/relationships/slide" Target="slides/slide4.xml"/><Relationship Id="rId28"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0276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923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283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908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7538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5b0074de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13" name="Google Shape;313;gc5b0074de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2416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11"/>
        <p:cNvGrpSpPr/>
        <p:nvPr/>
      </p:nvGrpSpPr>
      <p:grpSpPr>
        <a:xfrm>
          <a:off x="0" y="0"/>
          <a:ext cx="0" cy="0"/>
          <a:chOff x="0" y="0"/>
          <a:chExt cx="0" cy="0"/>
        </a:xfrm>
      </p:grpSpPr>
      <p:sp>
        <p:nvSpPr>
          <p:cNvPr id="12" name="Google Shape;12;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3" name="Google Shape;13;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chemeClr val="bg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838200" y="1365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4000">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5" name="Google Shape;25;p19"/>
          <p:cNvSpPr txBox="1">
            <a:spLocks noGrp="1"/>
          </p:cNvSpPr>
          <p:nvPr>
            <p:ph type="body" idx="1"/>
          </p:nvPr>
        </p:nvSpPr>
        <p:spPr>
          <a:xfrm>
            <a:off x="838200" y="1645920"/>
            <a:ext cx="10515600" cy="453104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b="1">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zh-TW" altLang="en-US" dirty="0"/>
          </a:p>
        </p:txBody>
      </p:sp>
      <p:sp>
        <p:nvSpPr>
          <p:cNvPr id="26" name="Google Shape;2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a:p>
        </p:txBody>
      </p:sp>
      <p:sp>
        <p:nvSpPr>
          <p:cNvPr id="27" name="Google Shape;2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a:p>
        </p:txBody>
      </p:sp>
      <p:sp>
        <p:nvSpPr>
          <p:cNvPr id="28" name="Google Shape;2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2" name="Google Shape;32;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a:p>
        </p:txBody>
      </p:sp>
      <p:sp>
        <p:nvSpPr>
          <p:cNvPr id="34" name="Google Shape;3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a:p>
        </p:txBody>
      </p:sp>
      <p:sp>
        <p:nvSpPr>
          <p:cNvPr id="35" name="Google Shape;3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solidFill>
                  <a:schemeClr val="bg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solidFill>
                  <a:schemeClr val="bg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a:p>
        </p:txBody>
      </p:sp>
      <p:sp>
        <p:nvSpPr>
          <p:cNvPr id="43" name="Google Shape;4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a:p>
        </p:txBody>
      </p:sp>
      <p:sp>
        <p:nvSpPr>
          <p:cNvPr id="44" name="Google Shape;4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5"/>
        <p:cNvGrpSpPr/>
        <p:nvPr/>
      </p:nvGrpSpPr>
      <p:grpSpPr>
        <a:xfrm>
          <a:off x="0" y="0"/>
          <a:ext cx="0" cy="0"/>
          <a:chOff x="0" y="0"/>
          <a:chExt cx="0" cy="0"/>
        </a:xfrm>
      </p:grpSpPr>
      <p:sp>
        <p:nvSpPr>
          <p:cNvPr id="46" name="Google Shape;4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7" name="Google Shape;4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48" name="Google Shape;4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49" name="Google Shape;4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Google Shape;5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
          <p:cNvSpPr>
            <a:spLocks noGrp="1"/>
          </p:cNvSpPr>
          <p:nvPr>
            <p:ph type="pic" idx="2"/>
          </p:nvPr>
        </p:nvSpPr>
        <p:spPr>
          <a:xfrm>
            <a:off x="5183188" y="987425"/>
            <a:ext cx="6172200" cy="4873625"/>
          </a:xfrm>
          <a:prstGeom prst="rect">
            <a:avLst/>
          </a:prstGeom>
          <a:noFill/>
          <a:ln>
            <a:noFill/>
          </a:ln>
        </p:spPr>
      </p:sp>
      <p:sp>
        <p:nvSpPr>
          <p:cNvPr id="64" name="Google Shape;6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bg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66" name="Google Shape;6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67" name="Google Shape;6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72" name="Google Shape;7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73" name="Google Shape;7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7" name="Google Shape;7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78" name="Google Shape;7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zh-TW" altLang="en-US" dirty="0"/>
          </a:p>
        </p:txBody>
      </p:sp>
      <p:sp>
        <p:nvSpPr>
          <p:cNvPr id="79" name="Google Shape;7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bg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4292E"/>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7" name="Google Shape;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8" name="Google Shape;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baseline="0">
                <a:solidFill>
                  <a:schemeClr val="bg1"/>
                </a:solidFill>
                <a:latin typeface="Calibri"/>
                <a:ea typeface="微軟正黑體" panose="020B0604030504040204" pitchFamily="34" charset="-120"/>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lang="zh-TW" altLang="en-US"/>
          </a:p>
        </p:txBody>
      </p:sp>
      <p:sp>
        <p:nvSpPr>
          <p:cNvPr id="9" name="Google Shape;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baseline="0">
                <a:solidFill>
                  <a:schemeClr val="bg1"/>
                </a:solidFill>
                <a:latin typeface="Calibri"/>
                <a:ea typeface="微軟正黑體" panose="020B0604030504040204" pitchFamily="34" charset="-120"/>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lang="zh-TW" altLang="en-US"/>
          </a:p>
        </p:txBody>
      </p:sp>
      <p:sp>
        <p:nvSpPr>
          <p:cNvPr id="10" name="Google Shape;1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baseline="0">
                <a:solidFill>
                  <a:schemeClr val="bg1"/>
                </a:solidFill>
                <a:latin typeface="Calibri"/>
                <a:ea typeface="微軟正黑體" panose="020B0604030504040204" pitchFamily="34" charset="-120"/>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baseline="0">
          <a:solidFill>
            <a:schemeClr val="bg1"/>
          </a:solidFill>
          <a:latin typeface="Arial"/>
          <a:ea typeface="微軟正黑體" panose="020B0604030504040204" pitchFamily="34" charset="-12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baseline="0">
          <a:solidFill>
            <a:schemeClr val="bg1"/>
          </a:solidFill>
          <a:latin typeface="Arial"/>
          <a:ea typeface="微軟正黑體" panose="020B0604030504040204" pitchFamily="34" charset="-12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600"/>
              <a:buFont typeface="Microsoft JhengHei"/>
              <a:buNone/>
            </a:pPr>
            <a:r>
              <a:rPr lang="en-US" altLang="zh-TW" sz="4800" b="1" dirty="0">
                <a:solidFill>
                  <a:schemeClr val="bg1">
                    <a:lumMod val="85000"/>
                  </a:schemeClr>
                </a:solidFill>
                <a:latin typeface="Times New Roman" panose="02020603050405020304" pitchFamily="18" charset="0"/>
                <a:ea typeface="微軟正黑體" panose="020B0604030504040204" pitchFamily="34" charset="-120"/>
              </a:rPr>
              <a:t>112/05/24 </a:t>
            </a:r>
            <a:r>
              <a:rPr lang="zh-TW" altLang="en-US" sz="4800" b="1" dirty="0">
                <a:solidFill>
                  <a:schemeClr val="bg1">
                    <a:lumMod val="85000"/>
                  </a:schemeClr>
                </a:solidFill>
                <a:latin typeface="Times New Roman" panose="02020603050405020304" pitchFamily="18" charset="0"/>
                <a:ea typeface="微軟正黑體" panose="020B0604030504040204" pitchFamily="34" charset="-120"/>
              </a:rPr>
              <a:t>資料庫系統期末測驗</a:t>
            </a:r>
            <a:endParaRPr sz="4800" b="1"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pPr>
            <a:r>
              <a:rPr lang="en-US" altLang="zh-TW" dirty="0">
                <a:solidFill>
                  <a:schemeClr val="bg1">
                    <a:lumMod val="85000"/>
                  </a:schemeClr>
                </a:solidFill>
                <a:latin typeface="Times New Roman" panose="02020603050405020304" pitchFamily="18" charset="0"/>
                <a:ea typeface="微軟正黑體" panose="020B0604030504040204" pitchFamily="34" charset="-120"/>
              </a:rPr>
              <a:t>Part. </a:t>
            </a:r>
            <a:r>
              <a:rPr lang="zh-TW" altLang="en-US" dirty="0">
                <a:solidFill>
                  <a:schemeClr val="bg1">
                    <a:lumMod val="85000"/>
                  </a:schemeClr>
                </a:solidFill>
                <a:latin typeface="Times New Roman" panose="02020603050405020304" pitchFamily="18" charset="0"/>
                <a:ea typeface="微軟正黑體" panose="020B0604030504040204" pitchFamily="34" charset="-120"/>
              </a:rPr>
              <a:t>上機實作 </a:t>
            </a:r>
            <a:r>
              <a:rPr lang="en-US" altLang="zh-TW" dirty="0">
                <a:solidFill>
                  <a:schemeClr val="bg1">
                    <a:lumMod val="85000"/>
                  </a:schemeClr>
                </a:solidFill>
                <a:latin typeface="Times New Roman" panose="02020603050405020304" pitchFamily="18" charset="0"/>
                <a:ea typeface="微軟正黑體" panose="020B0604030504040204" pitchFamily="34" charset="-120"/>
              </a:rPr>
              <a:t>11:00-12:30</a:t>
            </a:r>
          </a:p>
          <a:p>
            <a:pPr marL="0" indent="0">
              <a:lnSpc>
                <a:spcPct val="150000"/>
              </a:lnSpc>
              <a:spcBef>
                <a:spcPts val="0"/>
              </a:spcBef>
            </a:pPr>
            <a:r>
              <a:rPr lang="zh-TW" altLang="en-US" dirty="0">
                <a:solidFill>
                  <a:schemeClr val="bg1">
                    <a:lumMod val="85000"/>
                  </a:schemeClr>
                </a:solidFill>
                <a:latin typeface="Times New Roman" panose="02020603050405020304" pitchFamily="18" charset="0"/>
                <a:ea typeface="微軟正黑體" panose="020B0604030504040204" pitchFamily="34" charset="-120"/>
              </a:rPr>
              <a:t>資料庫管理系統：</a:t>
            </a:r>
            <a:r>
              <a:rPr lang="en-US" altLang="zh-TW" dirty="0">
                <a:solidFill>
                  <a:schemeClr val="bg1">
                    <a:lumMod val="85000"/>
                  </a:schemeClr>
                </a:solidFill>
                <a:latin typeface="Times New Roman" panose="02020603050405020304" pitchFamily="18" charset="0"/>
                <a:ea typeface="微軟正黑體" panose="020B0604030504040204" pitchFamily="34" charset="-120"/>
              </a:rPr>
              <a:t>MariaDB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考試須知</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4" name="文字版面配置區 2">
            <a:extLst>
              <a:ext uri="{FF2B5EF4-FFF2-40B4-BE49-F238E27FC236}">
                <a16:creationId xmlns:a16="http://schemas.microsoft.com/office/drawing/2014/main" id="{DFF0183E-35CB-7D35-BC84-2A229E69466F}"/>
              </a:ext>
            </a:extLst>
          </p:cNvPr>
          <p:cNvSpPr>
            <a:spLocks noGrp="1"/>
          </p:cNvSpPr>
          <p:nvPr>
            <p:ph type="body" idx="1"/>
          </p:nvPr>
        </p:nvSpPr>
        <p:spPr>
          <a:xfrm>
            <a:off x="838200" y="1462087"/>
            <a:ext cx="10515600" cy="5094355"/>
          </a:xfrm>
        </p:spPr>
        <p:txBody>
          <a:bodyPr>
            <a:normAutofit/>
          </a:bodyPr>
          <a:lstStyle/>
          <a:p>
            <a:pPr>
              <a:buClr>
                <a:schemeClr val="bg1">
                  <a:lumMod val="85000"/>
                </a:schemeClr>
              </a:buClr>
            </a:pP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可以上網，不得交談、不得使用手機、不得使用任何聊天管道（例如臉書或</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LINE</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），不得使用</a:t>
            </a:r>
            <a:r>
              <a:rPr lang="en-US" altLang="zh-TW" sz="2000" dirty="0" err="1">
                <a:solidFill>
                  <a:srgbClr val="FF0000"/>
                </a:solidFill>
                <a:latin typeface="Times New Roman" panose="02020603050405020304" pitchFamily="18" charset="0"/>
                <a:ea typeface="微軟正黑體" panose="020B0604030504040204" pitchFamily="34" charset="-120"/>
              </a:rPr>
              <a:t>ChatGPT</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，抓到不論原由一律零分計算。</a:t>
            </a:r>
            <a:endParaRPr lang="en-US" altLang="zh-TW" sz="2000" b="0" dirty="0">
              <a:solidFill>
                <a:schemeClr val="bg1">
                  <a:lumMod val="85000"/>
                </a:schemeClr>
              </a:solidFill>
              <a:latin typeface="Times New Roman" panose="02020603050405020304" pitchFamily="18" charset="0"/>
              <a:ea typeface="微軟正黑體" panose="020B0604030504040204" pitchFamily="34" charset="-120"/>
            </a:endParaRPr>
          </a:p>
          <a:p>
            <a:pPr>
              <a:buClr>
                <a:schemeClr val="bg1">
                  <a:lumMod val="85000"/>
                </a:schemeClr>
              </a:buClr>
            </a:pP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每道題目的答案請以截圖的方式貼入 </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Word</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檔中，並標示題號，檔名統一以學號命名 </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(Ex: 40943199) </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上傳至 </a:t>
            </a:r>
            <a:r>
              <a:rPr lang="en-US" altLang="zh-TW" sz="2000" b="0" dirty="0" err="1">
                <a:solidFill>
                  <a:schemeClr val="bg1">
                    <a:lumMod val="85000"/>
                  </a:schemeClr>
                </a:solidFill>
                <a:latin typeface="Times New Roman" panose="02020603050405020304" pitchFamily="18" charset="0"/>
                <a:ea typeface="微軟正黑體" panose="020B0604030504040204" pitchFamily="34" charset="-120"/>
              </a:rPr>
              <a:t>uLearn</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學習平台作業裡。</a:t>
            </a:r>
            <a:endParaRPr lang="en-US" altLang="zh-TW" sz="2000" b="0" dirty="0">
              <a:solidFill>
                <a:schemeClr val="bg1">
                  <a:lumMod val="85000"/>
                </a:schemeClr>
              </a:solidFill>
              <a:latin typeface="Times New Roman" panose="02020603050405020304" pitchFamily="18" charset="0"/>
              <a:ea typeface="微軟正黑體" panose="020B0604030504040204" pitchFamily="34" charset="-120"/>
            </a:endParaRPr>
          </a:p>
          <a:p>
            <a:pPr>
              <a:buClr>
                <a:schemeClr val="bg1">
                  <a:lumMod val="85000"/>
                </a:schemeClr>
              </a:buClr>
            </a:pP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每道題目的答案</a:t>
            </a:r>
            <a:r>
              <a:rPr lang="zh-TW" altLang="en-US" sz="2000" b="0" dirty="0">
                <a:solidFill>
                  <a:srgbClr val="FFFF00"/>
                </a:solidFill>
                <a:latin typeface="Times New Roman" panose="02020603050405020304" pitchFamily="18" charset="0"/>
                <a:ea typeface="微軟正黑體" panose="020B0604030504040204" pitchFamily="34" charset="-120"/>
              </a:rPr>
              <a:t>僅接受</a:t>
            </a:r>
            <a:r>
              <a:rPr lang="zh-TW" altLang="en-US" sz="2000" dirty="0">
                <a:solidFill>
                  <a:srgbClr val="FFFF00"/>
                </a:solidFill>
                <a:latin typeface="Times New Roman" panose="02020603050405020304" pitchFamily="18" charset="0"/>
                <a:ea typeface="微軟正黑體" panose="020B0604030504040204" pitchFamily="34" charset="-120"/>
              </a:rPr>
              <a:t>一張</a:t>
            </a:r>
            <a:r>
              <a:rPr lang="zh-TW" altLang="en-US" sz="2000" b="0" dirty="0">
                <a:solidFill>
                  <a:srgbClr val="FFFF00"/>
                </a:solidFill>
                <a:latin typeface="Times New Roman" panose="02020603050405020304" pitchFamily="18" charset="0"/>
                <a:ea typeface="微軟正黑體" panose="020B0604030504040204" pitchFamily="34" charset="-120"/>
              </a:rPr>
              <a:t>截圖</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，截圖範圍如下圖範例所示，請涵蓋</a:t>
            </a:r>
            <a:r>
              <a:rPr lang="zh-TW" altLang="en-US" sz="2000" b="0" dirty="0">
                <a:solidFill>
                  <a:srgbClr val="FFFF00"/>
                </a:solidFill>
                <a:latin typeface="Times New Roman" panose="02020603050405020304" pitchFamily="18" charset="0"/>
                <a:ea typeface="微軟正黑體" panose="020B0604030504040204" pitchFamily="34" charset="-120"/>
              </a:rPr>
              <a:t>使用的資料庫名稱</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a:t>
            </a:r>
            <a:r>
              <a:rPr lang="en-US" altLang="zh-TW" sz="2000" b="0" dirty="0">
                <a:solidFill>
                  <a:srgbClr val="FFFF00"/>
                </a:solidFill>
                <a:latin typeface="Times New Roman" panose="02020603050405020304" pitchFamily="18" charset="0"/>
                <a:ea typeface="微軟正黑體" panose="020B0604030504040204" pitchFamily="34" charset="-120"/>
              </a:rPr>
              <a:t>SQL</a:t>
            </a:r>
            <a:r>
              <a:rPr lang="zh-TW" altLang="en-US" sz="2000" b="0" dirty="0">
                <a:solidFill>
                  <a:srgbClr val="FFFF00"/>
                </a:solidFill>
                <a:latin typeface="Times New Roman" panose="02020603050405020304" pitchFamily="18" charset="0"/>
                <a:ea typeface="微軟正黑體" panose="020B0604030504040204" pitchFamily="34" charset="-120"/>
              </a:rPr>
              <a:t>查詢語法</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以及</a:t>
            </a:r>
            <a:r>
              <a:rPr lang="zh-TW" altLang="en-US" sz="2000" b="0" dirty="0">
                <a:solidFill>
                  <a:srgbClr val="FFFF00"/>
                </a:solidFill>
                <a:latin typeface="Times New Roman" panose="02020603050405020304" pitchFamily="18" charset="0"/>
                <a:ea typeface="微軟正黑體" panose="020B0604030504040204" pitchFamily="34" charset="-120"/>
              </a:rPr>
              <a:t>查詢結果</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a:t>
            </a:r>
            <a:r>
              <a:rPr lang="zh-TW" altLang="en-US" sz="2000" b="0" dirty="0">
                <a:solidFill>
                  <a:srgbClr val="C00000"/>
                </a:solidFill>
                <a:latin typeface="Times New Roman" panose="02020603050405020304" pitchFamily="18" charset="0"/>
                <a:ea typeface="微軟正黑體" panose="020B0604030504040204" pitchFamily="34" charset="-120"/>
              </a:rPr>
              <a:t>（未依截圖規範每題扣五分）</a:t>
            </a:r>
            <a:endParaRPr lang="en-US" altLang="zh-TW" sz="2000" b="0" dirty="0">
              <a:solidFill>
                <a:srgbClr val="C00000"/>
              </a:solidFill>
              <a:latin typeface="Times New Roman" panose="02020603050405020304" pitchFamily="18" charset="0"/>
              <a:ea typeface="微軟正黑體" panose="020B0604030504040204" pitchFamily="34" charset="-120"/>
            </a:endParaRPr>
          </a:p>
          <a:p>
            <a:pPr>
              <a:buClr>
                <a:schemeClr val="bg1">
                  <a:lumMod val="85000"/>
                </a:schemeClr>
              </a:buClr>
            </a:pPr>
            <a:endParaRPr lang="en-US" altLang="zh-TW" sz="200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2" name="Google Shape;86;p1">
            <a:extLst>
              <a:ext uri="{FF2B5EF4-FFF2-40B4-BE49-F238E27FC236}">
                <a16:creationId xmlns:a16="http://schemas.microsoft.com/office/drawing/2014/main" id="{0CF90E80-7FF2-8D93-0D30-339CFD9A5F4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2</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pic>
        <p:nvPicPr>
          <p:cNvPr id="5" name="圖片 4">
            <a:extLst>
              <a:ext uri="{FF2B5EF4-FFF2-40B4-BE49-F238E27FC236}">
                <a16:creationId xmlns:a16="http://schemas.microsoft.com/office/drawing/2014/main" id="{E0924426-BD2A-5916-296F-819E7AF0C79F}"/>
              </a:ext>
            </a:extLst>
          </p:cNvPr>
          <p:cNvPicPr>
            <a:picLocks noChangeAspect="1"/>
          </p:cNvPicPr>
          <p:nvPr/>
        </p:nvPicPr>
        <p:blipFill>
          <a:blip r:embed="rId3"/>
          <a:stretch>
            <a:fillRect/>
          </a:stretch>
        </p:blipFill>
        <p:spPr>
          <a:xfrm>
            <a:off x="2602171" y="3893599"/>
            <a:ext cx="6987658" cy="2698311"/>
          </a:xfrm>
          <a:prstGeom prst="rect">
            <a:avLst/>
          </a:prstGeom>
        </p:spPr>
      </p:pic>
      <p:sp>
        <p:nvSpPr>
          <p:cNvPr id="3" name="矩形 2">
            <a:extLst>
              <a:ext uri="{FF2B5EF4-FFF2-40B4-BE49-F238E27FC236}">
                <a16:creationId xmlns:a16="http://schemas.microsoft.com/office/drawing/2014/main" id="{66E44B29-14A4-1A7A-D495-CEC607EB8EDB}"/>
              </a:ext>
            </a:extLst>
          </p:cNvPr>
          <p:cNvSpPr/>
          <p:nvPr/>
        </p:nvSpPr>
        <p:spPr>
          <a:xfrm>
            <a:off x="3404680" y="3893599"/>
            <a:ext cx="1400784" cy="260112"/>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C87A5E0D-B2AD-8CFF-B7E5-56D5A5A87F91}"/>
              </a:ext>
            </a:extLst>
          </p:cNvPr>
          <p:cNvSpPr/>
          <p:nvPr/>
        </p:nvSpPr>
        <p:spPr>
          <a:xfrm>
            <a:off x="340468" y="4266846"/>
            <a:ext cx="2009573" cy="412158"/>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使用的資料庫名稱</a:t>
            </a:r>
          </a:p>
        </p:txBody>
      </p:sp>
      <p:sp>
        <p:nvSpPr>
          <p:cNvPr id="13" name="矩形 12">
            <a:extLst>
              <a:ext uri="{FF2B5EF4-FFF2-40B4-BE49-F238E27FC236}">
                <a16:creationId xmlns:a16="http://schemas.microsoft.com/office/drawing/2014/main" id="{8017E399-50DC-2617-9544-6C0F3CB075DA}"/>
              </a:ext>
            </a:extLst>
          </p:cNvPr>
          <p:cNvSpPr/>
          <p:nvPr/>
        </p:nvSpPr>
        <p:spPr>
          <a:xfrm>
            <a:off x="4987056" y="3893599"/>
            <a:ext cx="4507139" cy="26011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37129BFB-D1D3-8761-5CFB-FF18D9D6722D}"/>
              </a:ext>
            </a:extLst>
          </p:cNvPr>
          <p:cNvSpPr/>
          <p:nvPr/>
        </p:nvSpPr>
        <p:spPr>
          <a:xfrm>
            <a:off x="9982200" y="4130659"/>
            <a:ext cx="1705583" cy="412158"/>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chemeClr val="tx1"/>
                </a:solidFill>
                <a:latin typeface="Times New Roman" panose="02020603050405020304" pitchFamily="18" charset="0"/>
                <a:ea typeface="微軟正黑體" panose="020B0604030504040204" pitchFamily="34" charset="-120"/>
              </a:rPr>
              <a:t>SQL</a:t>
            </a:r>
            <a:r>
              <a:rPr lang="zh-TW" altLang="en-US" sz="1600" b="1" dirty="0">
                <a:solidFill>
                  <a:schemeClr val="tx1"/>
                </a:solidFill>
                <a:latin typeface="Times New Roman" panose="02020603050405020304" pitchFamily="18" charset="0"/>
                <a:ea typeface="微軟正黑體" panose="020B0604030504040204" pitchFamily="34" charset="-120"/>
              </a:rPr>
              <a:t>查詢語法</a:t>
            </a:r>
          </a:p>
        </p:txBody>
      </p:sp>
      <p:cxnSp>
        <p:nvCxnSpPr>
          <p:cNvPr id="15" name="直線單箭頭接點 14">
            <a:extLst>
              <a:ext uri="{FF2B5EF4-FFF2-40B4-BE49-F238E27FC236}">
                <a16:creationId xmlns:a16="http://schemas.microsoft.com/office/drawing/2014/main" id="{0ABABD7B-7583-08CD-3C76-F04122EC8EEC}"/>
              </a:ext>
            </a:extLst>
          </p:cNvPr>
          <p:cNvCxnSpPr>
            <a:cxnSpLocks/>
            <a:stCxn id="14" idx="1"/>
            <a:endCxn id="13" idx="3"/>
          </p:cNvCxnSpPr>
          <p:nvPr/>
        </p:nvCxnSpPr>
        <p:spPr>
          <a:xfrm flipH="1" flipV="1">
            <a:off x="9494195" y="4023655"/>
            <a:ext cx="488005" cy="313083"/>
          </a:xfrm>
          <a:prstGeom prst="straightConnector1">
            <a:avLst/>
          </a:prstGeom>
          <a:ln w="34925">
            <a:gradFill>
              <a:gsLst>
                <a:gs pos="0">
                  <a:schemeClr val="tx1">
                    <a:lumMod val="75000"/>
                    <a:lumOff val="25000"/>
                  </a:schemeClr>
                </a:gs>
                <a:gs pos="100000">
                  <a:srgbClr val="C00000"/>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27A5B761-2170-CABD-2CDF-0FF664779192}"/>
              </a:ext>
            </a:extLst>
          </p:cNvPr>
          <p:cNvSpPr/>
          <p:nvPr/>
        </p:nvSpPr>
        <p:spPr>
          <a:xfrm>
            <a:off x="2689695" y="4183998"/>
            <a:ext cx="4255853" cy="2372443"/>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單箭頭接點 6">
            <a:extLst>
              <a:ext uri="{FF2B5EF4-FFF2-40B4-BE49-F238E27FC236}">
                <a16:creationId xmlns:a16="http://schemas.microsoft.com/office/drawing/2014/main" id="{6E4550CC-9A0D-506E-9C4A-2B704BDE95C9}"/>
              </a:ext>
            </a:extLst>
          </p:cNvPr>
          <p:cNvCxnSpPr>
            <a:cxnSpLocks/>
            <a:stCxn id="10" idx="3"/>
            <a:endCxn id="3" idx="1"/>
          </p:cNvCxnSpPr>
          <p:nvPr/>
        </p:nvCxnSpPr>
        <p:spPr>
          <a:xfrm flipV="1">
            <a:off x="2350041" y="4023655"/>
            <a:ext cx="1054639" cy="449270"/>
          </a:xfrm>
          <a:prstGeom prst="straightConnector1">
            <a:avLst/>
          </a:prstGeom>
          <a:ln w="34925">
            <a:gradFill>
              <a:gsLst>
                <a:gs pos="0">
                  <a:schemeClr val="tx1">
                    <a:lumMod val="75000"/>
                    <a:lumOff val="25000"/>
                  </a:schemeClr>
                </a:gs>
                <a:gs pos="100000">
                  <a:srgbClr val="FFFF00"/>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5C976070-2797-E6A6-061C-79EE6E759E74}"/>
              </a:ext>
            </a:extLst>
          </p:cNvPr>
          <p:cNvSpPr/>
          <p:nvPr/>
        </p:nvSpPr>
        <p:spPr>
          <a:xfrm>
            <a:off x="8501974" y="5663888"/>
            <a:ext cx="1343205" cy="412158"/>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Times New Roman" panose="02020603050405020304" pitchFamily="18" charset="0"/>
                <a:ea typeface="微軟正黑體" panose="020B0604030504040204" pitchFamily="34" charset="-120"/>
              </a:rPr>
              <a:t>查詢結果</a:t>
            </a:r>
          </a:p>
        </p:txBody>
      </p:sp>
      <p:cxnSp>
        <p:nvCxnSpPr>
          <p:cNvPr id="23" name="直線單箭頭接點 22">
            <a:extLst>
              <a:ext uri="{FF2B5EF4-FFF2-40B4-BE49-F238E27FC236}">
                <a16:creationId xmlns:a16="http://schemas.microsoft.com/office/drawing/2014/main" id="{03257479-D419-3E7F-2056-2D988BD5567D}"/>
              </a:ext>
            </a:extLst>
          </p:cNvPr>
          <p:cNvCxnSpPr>
            <a:cxnSpLocks/>
            <a:stCxn id="22" idx="1"/>
            <a:endCxn id="21" idx="3"/>
          </p:cNvCxnSpPr>
          <p:nvPr/>
        </p:nvCxnSpPr>
        <p:spPr>
          <a:xfrm flipH="1" flipV="1">
            <a:off x="6945548" y="5370220"/>
            <a:ext cx="1556426" cy="499747"/>
          </a:xfrm>
          <a:prstGeom prst="straightConnector1">
            <a:avLst/>
          </a:prstGeom>
          <a:ln w="34925">
            <a:gradFill>
              <a:gsLst>
                <a:gs pos="0">
                  <a:schemeClr val="tx1">
                    <a:lumMod val="75000"/>
                    <a:lumOff val="25000"/>
                  </a:schemeClr>
                </a:gs>
                <a:gs pos="100000">
                  <a:srgbClr val="92D050"/>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題目</a:t>
            </a:r>
            <a:r>
              <a:rPr lang="en-US" altLang="zh-TW"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#1 – </a:t>
            </a: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匯入考試資料庫</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4" name="文字版面配置區 2">
            <a:extLst>
              <a:ext uri="{FF2B5EF4-FFF2-40B4-BE49-F238E27FC236}">
                <a16:creationId xmlns:a16="http://schemas.microsoft.com/office/drawing/2014/main" id="{DFF0183E-35CB-7D35-BC84-2A229E69466F}"/>
              </a:ext>
            </a:extLst>
          </p:cNvPr>
          <p:cNvSpPr>
            <a:spLocks noGrp="1"/>
          </p:cNvSpPr>
          <p:nvPr>
            <p:ph type="body" idx="1"/>
          </p:nvPr>
        </p:nvSpPr>
        <p:spPr>
          <a:xfrm>
            <a:off x="838199" y="1462087"/>
            <a:ext cx="10844719" cy="5094355"/>
          </a:xfrm>
        </p:spPr>
        <p:txBody>
          <a:bodyPr>
            <a:normAutofit/>
          </a:bodyPr>
          <a:lstStyle/>
          <a:p>
            <a:pPr marL="114300" indent="0">
              <a:lnSpc>
                <a:spcPct val="150000"/>
              </a:lnSpc>
              <a:spcBef>
                <a:spcPts val="0"/>
              </a:spcBef>
              <a:buNone/>
            </a:pP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【Required - 10%】</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建立一個 「</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 </a:t>
            </a:r>
            <a:r>
              <a:rPr lang="en-US" altLang="zh-TW" sz="2000" b="0" dirty="0" err="1">
                <a:solidFill>
                  <a:schemeClr val="bg1">
                    <a:lumMod val="85000"/>
                  </a:schemeClr>
                </a:solidFill>
                <a:latin typeface="Times New Roman" panose="02020603050405020304" pitchFamily="18" charset="0"/>
                <a:ea typeface="微軟正黑體" panose="020B0604030504040204" pitchFamily="34" charset="-120"/>
              </a:rPr>
              <a:t>nfu</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_</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學號（</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Ex: nfu_40943199</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」資料庫，並匯入作業附件的資料庫（</a:t>
            </a:r>
            <a:r>
              <a:rPr lang="en-US" altLang="zh-TW" sz="2000" b="0" dirty="0" err="1">
                <a:solidFill>
                  <a:schemeClr val="bg1">
                    <a:lumMod val="85000"/>
                  </a:schemeClr>
                </a:solidFill>
                <a:latin typeface="Times New Roman" panose="02020603050405020304" pitchFamily="18" charset="0"/>
                <a:ea typeface="微軟正黑體" panose="020B0604030504040204" pitchFamily="34" charset="-120"/>
              </a:rPr>
              <a:t>finalexam.sql</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）。再建立一個使用者命名為「</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s</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 學號末四碼（</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Ex: s3199</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）」，並授權為可存取此資料庫全部權限。</a:t>
            </a:r>
            <a:r>
              <a:rPr lang="en-US" altLang="zh-TW" sz="2000" b="0" dirty="0">
                <a:solidFill>
                  <a:schemeClr val="bg1">
                    <a:lumMod val="85000"/>
                  </a:schemeClr>
                </a:solidFill>
                <a:latin typeface="Times New Roman" panose="02020603050405020304" pitchFamily="18" charset="0"/>
                <a:ea typeface="微軟正黑體" panose="020B0604030504040204" pitchFamily="34" charset="-120"/>
              </a:rPr>
              <a:t> Word</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文件請貼上</a:t>
            </a:r>
            <a:r>
              <a:rPr lang="zh-TW" altLang="en-US" sz="2000" dirty="0">
                <a:solidFill>
                  <a:schemeClr val="bg1">
                    <a:lumMod val="85000"/>
                  </a:schemeClr>
                </a:solidFill>
                <a:latin typeface="Times New Roman" panose="02020603050405020304" pitchFamily="18" charset="0"/>
                <a:ea typeface="微軟正黑體" panose="020B0604030504040204" pitchFamily="34" charset="-120"/>
              </a:rPr>
              <a:t>權限查詢結果截圖</a:t>
            </a:r>
            <a:r>
              <a:rPr lang="zh-TW" altLang="en-US" sz="2000" b="0" dirty="0">
                <a:solidFill>
                  <a:schemeClr val="bg1">
                    <a:lumMod val="85000"/>
                  </a:schemeClr>
                </a:solidFill>
                <a:latin typeface="Times New Roman" panose="02020603050405020304" pitchFamily="18" charset="0"/>
                <a:ea typeface="微軟正黑體" panose="020B0604030504040204" pitchFamily="34" charset="-120"/>
              </a:rPr>
              <a:t>。</a:t>
            </a:r>
            <a:endParaRPr lang="en-US" altLang="zh-TW" sz="2000" b="0" dirty="0">
              <a:solidFill>
                <a:schemeClr val="bg1">
                  <a:lumMod val="85000"/>
                </a:schemeClr>
              </a:solidFill>
              <a:latin typeface="Times New Roman" panose="02020603050405020304" pitchFamily="18" charset="0"/>
              <a:ea typeface="微軟正黑體" panose="020B0604030504040204" pitchFamily="34" charset="-120"/>
            </a:endParaRPr>
          </a:p>
          <a:p>
            <a:pPr marL="571500" indent="-457200">
              <a:lnSpc>
                <a:spcPct val="100000"/>
              </a:lnSpc>
              <a:buFont typeface="+mj-lt"/>
              <a:buAutoNum type="arabicPeriod"/>
            </a:pPr>
            <a:endParaRPr lang="en-US" altLang="zh-TW" sz="2000" b="0" dirty="0">
              <a:solidFill>
                <a:schemeClr val="bg1">
                  <a:lumMod val="85000"/>
                </a:schemeClr>
              </a:solidFill>
              <a:latin typeface="Times New Roman" panose="02020603050405020304" pitchFamily="18" charset="0"/>
              <a:ea typeface="微軟正黑體" panose="020B0604030504040204" pitchFamily="34" charset="-120"/>
            </a:endParaRPr>
          </a:p>
          <a:p>
            <a:pPr marL="571500" indent="-457200">
              <a:lnSpc>
                <a:spcPct val="100000"/>
              </a:lnSpc>
              <a:buFont typeface="+mj-lt"/>
              <a:buAutoNum type="arabicPeriod"/>
            </a:pPr>
            <a:endParaRPr lang="en-US" altLang="zh-TW" sz="2000" b="0" dirty="0">
              <a:solidFill>
                <a:schemeClr val="bg1">
                  <a:lumMod val="85000"/>
                </a:schemeClr>
              </a:solidFill>
              <a:latin typeface="Times New Roman" panose="02020603050405020304" pitchFamily="18" charset="0"/>
              <a:ea typeface="微軟正黑體" panose="020B0604030504040204" pitchFamily="34" charset="-120"/>
            </a:endParaRPr>
          </a:p>
          <a:p>
            <a:pPr marL="571500" indent="-457200">
              <a:lnSpc>
                <a:spcPct val="100000"/>
              </a:lnSpc>
              <a:buFont typeface="+mj-lt"/>
              <a:buAutoNum type="arabicPeriod"/>
            </a:pPr>
            <a:endParaRPr lang="zh-TW" altLang="en-US" sz="2000" b="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5" name="Google Shape;86;p1">
            <a:extLst>
              <a:ext uri="{FF2B5EF4-FFF2-40B4-BE49-F238E27FC236}">
                <a16:creationId xmlns:a16="http://schemas.microsoft.com/office/drawing/2014/main" id="{8CEE353B-5820-5F05-923A-90DAA220A0F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3</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pic>
        <p:nvPicPr>
          <p:cNvPr id="7" name="圖片 6">
            <a:extLst>
              <a:ext uri="{FF2B5EF4-FFF2-40B4-BE49-F238E27FC236}">
                <a16:creationId xmlns:a16="http://schemas.microsoft.com/office/drawing/2014/main" id="{8A597178-0951-8529-20E7-73CD97B11615}"/>
              </a:ext>
            </a:extLst>
          </p:cNvPr>
          <p:cNvPicPr>
            <a:picLocks noChangeAspect="1"/>
          </p:cNvPicPr>
          <p:nvPr/>
        </p:nvPicPr>
        <p:blipFill>
          <a:blip r:embed="rId3"/>
          <a:stretch>
            <a:fillRect/>
          </a:stretch>
        </p:blipFill>
        <p:spPr>
          <a:xfrm>
            <a:off x="1040925" y="2941904"/>
            <a:ext cx="10439266" cy="1208865"/>
          </a:xfrm>
          <a:prstGeom prst="rect">
            <a:avLst/>
          </a:prstGeom>
        </p:spPr>
      </p:pic>
    </p:spTree>
    <p:extLst>
      <p:ext uri="{BB962C8B-B14F-4D97-AF65-F5344CB8AC3E}">
        <p14:creationId xmlns:p14="http://schemas.microsoft.com/office/powerpoint/2010/main" val="946049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2" name="矩形: 圓角 1">
            <a:extLst>
              <a:ext uri="{FF2B5EF4-FFF2-40B4-BE49-F238E27FC236}">
                <a16:creationId xmlns:a16="http://schemas.microsoft.com/office/drawing/2014/main" id="{BEC8BDE2-A9A7-E771-AAF7-1F2275BEC501}"/>
              </a:ext>
            </a:extLst>
          </p:cNvPr>
          <p:cNvSpPr/>
          <p:nvPr/>
        </p:nvSpPr>
        <p:spPr>
          <a:xfrm>
            <a:off x="766051" y="3941600"/>
            <a:ext cx="10659894" cy="2650310"/>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題目</a:t>
            </a:r>
            <a:r>
              <a:rPr lang="en-US" altLang="zh-TW"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#2 – </a:t>
            </a: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論文審查</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5" name="Google Shape;86;p1">
            <a:extLst>
              <a:ext uri="{FF2B5EF4-FFF2-40B4-BE49-F238E27FC236}">
                <a16:creationId xmlns:a16="http://schemas.microsoft.com/office/drawing/2014/main" id="{8CEE353B-5820-5F05-923A-90DAA220A0FB}"/>
              </a:ext>
            </a:extLst>
          </p:cNvPr>
          <p:cNvSpPr txBox="1">
            <a:spLocks noGrp="1"/>
          </p:cNvSpPr>
          <p:nvPr>
            <p:ph type="sldNum" idx="12"/>
          </p:nvPr>
        </p:nvSpPr>
        <p:spPr>
          <a:xfrm>
            <a:off x="8610600" y="6409347"/>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4</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6" name="矩形: 圓角 5">
            <a:extLst>
              <a:ext uri="{FF2B5EF4-FFF2-40B4-BE49-F238E27FC236}">
                <a16:creationId xmlns:a16="http://schemas.microsoft.com/office/drawing/2014/main" id="{01A207A8-1342-B4F0-6740-F8C95A4D194F}"/>
              </a:ext>
            </a:extLst>
          </p:cNvPr>
          <p:cNvSpPr/>
          <p:nvPr/>
        </p:nvSpPr>
        <p:spPr>
          <a:xfrm>
            <a:off x="766053" y="1377141"/>
            <a:ext cx="10659894" cy="1599523"/>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8">
            <a:extLst>
              <a:ext uri="{FF2B5EF4-FFF2-40B4-BE49-F238E27FC236}">
                <a16:creationId xmlns:a16="http://schemas.microsoft.com/office/drawing/2014/main" id="{95D318D1-F3C5-EB0E-5A9C-86C64118A918}"/>
              </a:ext>
            </a:extLst>
          </p:cNvPr>
          <p:cNvGraphicFramePr>
            <a:graphicFrameLocks noGrp="1"/>
          </p:cNvGraphicFramePr>
          <p:nvPr>
            <p:extLst>
              <p:ext uri="{D42A27DB-BD31-4B8C-83A1-F6EECF244321}">
                <p14:modId xmlns:p14="http://schemas.microsoft.com/office/powerpoint/2010/main" val="3798810138"/>
              </p:ext>
            </p:extLst>
          </p:nvPr>
        </p:nvGraphicFramePr>
        <p:xfrm>
          <a:off x="886837" y="1419934"/>
          <a:ext cx="3055566" cy="1524000"/>
        </p:xfrm>
        <a:graphic>
          <a:graphicData uri="http://schemas.openxmlformats.org/drawingml/2006/table">
            <a:tbl>
              <a:tblPr firstRow="1" bandRow="1">
                <a:tableStyleId>{8799B23B-EC83-4686-B30A-512413B5E67A}</a:tableStyleId>
              </a:tblPr>
              <a:tblGrid>
                <a:gridCol w="1527783">
                  <a:extLst>
                    <a:ext uri="{9D8B030D-6E8A-4147-A177-3AD203B41FA5}">
                      <a16:colId xmlns:a16="http://schemas.microsoft.com/office/drawing/2014/main" val="4287010486"/>
                    </a:ext>
                  </a:extLst>
                </a:gridCol>
                <a:gridCol w="1527783">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Comments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paper_id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author_id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1420906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viewer_id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9" name="文字方塊 8">
            <a:extLst>
              <a:ext uri="{FF2B5EF4-FFF2-40B4-BE49-F238E27FC236}">
                <a16:creationId xmlns:a16="http://schemas.microsoft.com/office/drawing/2014/main" id="{E9F56F7A-D154-0C7E-3D0B-49300B195CA0}"/>
              </a:ext>
            </a:extLst>
          </p:cNvPr>
          <p:cNvSpPr txBox="1"/>
          <p:nvPr/>
        </p:nvSpPr>
        <p:spPr>
          <a:xfrm>
            <a:off x="3942403" y="1419934"/>
            <a:ext cx="7030392" cy="907941"/>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paper_id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及</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viewer_id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，這個資料表的每筆資料紀錄了某個審查人員所審查某個作者所撰寫的論文。</a:t>
            </a:r>
            <a:endParaRPr lang="en-US" altLang="zh-TW" sz="1600" baseline="0" dirty="0">
              <a:solidFill>
                <a:schemeClr val="bg1">
                  <a:lumMod val="85000"/>
                </a:schemeClr>
              </a:solidFill>
              <a:latin typeface="Times New Roman" panose="02020603050405020304" pitchFamily="18" charset="0"/>
              <a:ea typeface="微軟正黑體" panose="020B0604030504040204" pitchFamily="34" charset="-120"/>
            </a:endParaRPr>
          </a:p>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請</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注意，若作者也是審查人員，則</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author_id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 </a:t>
            </a:r>
            <a:r>
              <a:rPr lang="en-US" altLang="zh-TW" sz="1600" baseline="0" dirty="0">
                <a:solidFill>
                  <a:schemeClr val="bg1">
                    <a:lumMod val="85000"/>
                  </a:schemeClr>
                </a:solidFill>
                <a:latin typeface="Times New Roman" panose="02020603050405020304" pitchFamily="18" charset="0"/>
                <a:ea typeface="微軟正黑體" panose="020B0604030504040204" pitchFamily="34" charset="-120"/>
              </a:rPr>
              <a:t>=</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 </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viewer_id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a:t>
            </a:r>
          </a:p>
        </p:txBody>
      </p:sp>
      <p:sp>
        <p:nvSpPr>
          <p:cNvPr id="10" name="文字方塊 9">
            <a:extLst>
              <a:ext uri="{FF2B5EF4-FFF2-40B4-BE49-F238E27FC236}">
                <a16:creationId xmlns:a16="http://schemas.microsoft.com/office/drawing/2014/main" id="{A9135A42-A20E-5498-7397-FE84BD653CEA}"/>
              </a:ext>
            </a:extLst>
          </p:cNvPr>
          <p:cNvSpPr txBox="1"/>
          <p:nvPr/>
        </p:nvSpPr>
        <p:spPr>
          <a:xfrm>
            <a:off x="766051" y="2976664"/>
            <a:ext cx="10659893" cy="873316"/>
          </a:xfrm>
          <a:prstGeom prst="rect">
            <a:avLst/>
          </a:prstGeom>
          <a:noFill/>
        </p:spPr>
        <p:txBody>
          <a:bodyPr wrap="square" rtlCol="0">
            <a:spAutoFit/>
          </a:bodyPr>
          <a:lstStyle/>
          <a:p>
            <a:pPr>
              <a:lnSpc>
                <a:spcPct val="150000"/>
              </a:lnSpc>
            </a:pPr>
            <a:r>
              <a:rPr lang="en-US" altLang="zh-TW" sz="1800" dirty="0">
                <a:solidFill>
                  <a:srgbClr val="92D050"/>
                </a:solidFill>
                <a:latin typeface="Times New Roman" panose="02020603050405020304" pitchFamily="18" charset="0"/>
                <a:ea typeface="微軟正黑體" panose="020B0604030504040204" pitchFamily="34" charset="-120"/>
              </a:rPr>
              <a:t>【Easy - 20%】</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撰寫一個 </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SQL </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查詢，以找出所有審查過自己論文的作者。按照 </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id </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遞增的排序回傳</a:t>
            </a:r>
            <a:r>
              <a:rPr lang="zh-TW" altLang="en-US" sz="1800">
                <a:solidFill>
                  <a:schemeClr val="bg1">
                    <a:lumMod val="85000"/>
                  </a:schemeClr>
                </a:solidFill>
                <a:latin typeface="Times New Roman" panose="02020603050405020304" pitchFamily="18" charset="0"/>
                <a:ea typeface="微軟正黑體" panose="020B0604030504040204" pitchFamily="34" charset="-120"/>
              </a:rPr>
              <a:t>結果。查詢</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結果的格式如下所示的範例。</a:t>
            </a:r>
            <a:endParaRPr lang="zh-TW" altLang="en-US" sz="1800" baseline="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3" name="文字方塊 2">
            <a:extLst>
              <a:ext uri="{FF2B5EF4-FFF2-40B4-BE49-F238E27FC236}">
                <a16:creationId xmlns:a16="http://schemas.microsoft.com/office/drawing/2014/main" id="{7AF45B83-558F-4E6C-FA0D-315DA1F44B09}"/>
              </a:ext>
            </a:extLst>
          </p:cNvPr>
          <p:cNvSpPr txBox="1"/>
          <p:nvPr/>
        </p:nvSpPr>
        <p:spPr>
          <a:xfrm>
            <a:off x="766051" y="3984583"/>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範例輸入</a:t>
            </a:r>
          </a:p>
        </p:txBody>
      </p:sp>
      <p:pic>
        <p:nvPicPr>
          <p:cNvPr id="28" name="圖片 27">
            <a:extLst>
              <a:ext uri="{FF2B5EF4-FFF2-40B4-BE49-F238E27FC236}">
                <a16:creationId xmlns:a16="http://schemas.microsoft.com/office/drawing/2014/main" id="{6E76E321-5FEF-98A2-579A-3795B097C129}"/>
              </a:ext>
            </a:extLst>
          </p:cNvPr>
          <p:cNvPicPr>
            <a:picLocks noChangeAspect="1"/>
          </p:cNvPicPr>
          <p:nvPr/>
        </p:nvPicPr>
        <p:blipFill>
          <a:blip r:embed="rId3"/>
          <a:srcRect/>
          <a:stretch/>
        </p:blipFill>
        <p:spPr>
          <a:xfrm>
            <a:off x="5092353" y="4074388"/>
            <a:ext cx="752475" cy="1055300"/>
          </a:xfrm>
          <a:prstGeom prst="rect">
            <a:avLst/>
          </a:prstGeom>
        </p:spPr>
      </p:pic>
      <p:sp>
        <p:nvSpPr>
          <p:cNvPr id="4" name="文字方塊 3">
            <a:extLst>
              <a:ext uri="{FF2B5EF4-FFF2-40B4-BE49-F238E27FC236}">
                <a16:creationId xmlns:a16="http://schemas.microsoft.com/office/drawing/2014/main" id="{9314FC7A-5200-2CCF-5D17-0030F891A438}"/>
              </a:ext>
            </a:extLst>
          </p:cNvPr>
          <p:cNvSpPr txBox="1"/>
          <p:nvPr/>
        </p:nvSpPr>
        <p:spPr>
          <a:xfrm>
            <a:off x="4606101" y="3984582"/>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範例輸出</a:t>
            </a:r>
          </a:p>
        </p:txBody>
      </p:sp>
      <p:cxnSp>
        <p:nvCxnSpPr>
          <p:cNvPr id="11" name="直線接點 10">
            <a:extLst>
              <a:ext uri="{FF2B5EF4-FFF2-40B4-BE49-F238E27FC236}">
                <a16:creationId xmlns:a16="http://schemas.microsoft.com/office/drawing/2014/main" id="{7D664E06-4152-8B0E-A65C-069A022E725D}"/>
              </a:ext>
            </a:extLst>
          </p:cNvPr>
          <p:cNvCxnSpPr>
            <a:cxnSpLocks/>
          </p:cNvCxnSpPr>
          <p:nvPr/>
        </p:nvCxnSpPr>
        <p:spPr>
          <a:xfrm>
            <a:off x="4550735" y="4106796"/>
            <a:ext cx="0" cy="2334959"/>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5BC3B290-88BC-564C-9379-B79509252CA9}"/>
              </a:ext>
            </a:extLst>
          </p:cNvPr>
          <p:cNvPicPr>
            <a:picLocks noChangeAspect="1"/>
          </p:cNvPicPr>
          <p:nvPr/>
        </p:nvPicPr>
        <p:blipFill>
          <a:blip r:embed="rId4"/>
          <a:stretch>
            <a:fillRect/>
          </a:stretch>
        </p:blipFill>
        <p:spPr>
          <a:xfrm>
            <a:off x="1252303" y="4072804"/>
            <a:ext cx="3114675" cy="2324100"/>
          </a:xfrm>
          <a:prstGeom prst="rect">
            <a:avLst/>
          </a:prstGeom>
        </p:spPr>
      </p:pic>
    </p:spTree>
    <p:extLst>
      <p:ext uri="{BB962C8B-B14F-4D97-AF65-F5344CB8AC3E}">
        <p14:creationId xmlns:p14="http://schemas.microsoft.com/office/powerpoint/2010/main" val="3785913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7" name="矩形: 圓角 6">
            <a:extLst>
              <a:ext uri="{FF2B5EF4-FFF2-40B4-BE49-F238E27FC236}">
                <a16:creationId xmlns:a16="http://schemas.microsoft.com/office/drawing/2014/main" id="{357318A5-3917-E446-0AEB-F894738E65EC}"/>
              </a:ext>
            </a:extLst>
          </p:cNvPr>
          <p:cNvSpPr/>
          <p:nvPr/>
        </p:nvSpPr>
        <p:spPr>
          <a:xfrm>
            <a:off x="766051" y="3555242"/>
            <a:ext cx="10659894" cy="3219230"/>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題目</a:t>
            </a:r>
            <a:r>
              <a:rPr lang="en-US" altLang="zh-TW"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#3 –</a:t>
            </a: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 熱門實驗室</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5" name="Google Shape;86;p1">
            <a:extLst>
              <a:ext uri="{FF2B5EF4-FFF2-40B4-BE49-F238E27FC236}">
                <a16:creationId xmlns:a16="http://schemas.microsoft.com/office/drawing/2014/main" id="{8CEE353B-5820-5F05-923A-90DAA220A0FB}"/>
              </a:ext>
            </a:extLst>
          </p:cNvPr>
          <p:cNvSpPr txBox="1">
            <a:spLocks noGrp="1"/>
          </p:cNvSpPr>
          <p:nvPr>
            <p:ph type="sldNum" idx="12"/>
          </p:nvPr>
        </p:nvSpPr>
        <p:spPr>
          <a:xfrm>
            <a:off x="8610600" y="6409347"/>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5</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6" name="矩形: 圓角 5">
            <a:extLst>
              <a:ext uri="{FF2B5EF4-FFF2-40B4-BE49-F238E27FC236}">
                <a16:creationId xmlns:a16="http://schemas.microsoft.com/office/drawing/2014/main" id="{01A207A8-1342-B4F0-6740-F8C95A4D194F}"/>
              </a:ext>
            </a:extLst>
          </p:cNvPr>
          <p:cNvSpPr/>
          <p:nvPr/>
        </p:nvSpPr>
        <p:spPr>
          <a:xfrm>
            <a:off x="766053" y="1377142"/>
            <a:ext cx="4932998" cy="1325700"/>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8">
            <a:extLst>
              <a:ext uri="{FF2B5EF4-FFF2-40B4-BE49-F238E27FC236}">
                <a16:creationId xmlns:a16="http://schemas.microsoft.com/office/drawing/2014/main" id="{95D318D1-F3C5-EB0E-5A9C-86C64118A918}"/>
              </a:ext>
            </a:extLst>
          </p:cNvPr>
          <p:cNvGraphicFramePr>
            <a:graphicFrameLocks noGrp="1"/>
          </p:cNvGraphicFramePr>
          <p:nvPr>
            <p:extLst>
              <p:ext uri="{D42A27DB-BD31-4B8C-83A1-F6EECF244321}">
                <p14:modId xmlns:p14="http://schemas.microsoft.com/office/powerpoint/2010/main" val="1632384725"/>
              </p:ext>
            </p:extLst>
          </p:nvPr>
        </p:nvGraphicFramePr>
        <p:xfrm>
          <a:off x="886837" y="1419934"/>
          <a:ext cx="2324196" cy="1219200"/>
        </p:xfrm>
        <a:graphic>
          <a:graphicData uri="http://schemas.openxmlformats.org/drawingml/2006/table">
            <a:tbl>
              <a:tblPr firstRow="1" bandRow="1">
                <a:tableStyleId>{8799B23B-EC83-4686-B30A-512413B5E67A}</a:tableStyleId>
              </a:tblPr>
              <a:tblGrid>
                <a:gridCol w="1101451">
                  <a:extLst>
                    <a:ext uri="{9D8B030D-6E8A-4147-A177-3AD203B41FA5}">
                      <a16:colId xmlns:a16="http://schemas.microsoft.com/office/drawing/2014/main" val="4287010486"/>
                    </a:ext>
                  </a:extLst>
                </a:gridCol>
                <a:gridCol w="1222745">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Labs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lab_id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name</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VARCHAR</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9" name="文字方塊 8">
            <a:extLst>
              <a:ext uri="{FF2B5EF4-FFF2-40B4-BE49-F238E27FC236}">
                <a16:creationId xmlns:a16="http://schemas.microsoft.com/office/drawing/2014/main" id="{E9F56F7A-D154-0C7E-3D0B-49300B195CA0}"/>
              </a:ext>
            </a:extLst>
          </p:cNvPr>
          <p:cNvSpPr txBox="1"/>
          <p:nvPr/>
        </p:nvSpPr>
        <p:spPr>
          <a:xfrm>
            <a:off x="3259671" y="1419934"/>
            <a:ext cx="2439380" cy="830997"/>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dirty="0" err="1">
                <a:solidFill>
                  <a:schemeClr val="bg1">
                    <a:lumMod val="85000"/>
                  </a:schemeClr>
                </a:solidFill>
                <a:latin typeface="Times New Roman" panose="02020603050405020304" pitchFamily="18" charset="0"/>
                <a:ea typeface="微軟正黑體" panose="020B0604030504040204" pitchFamily="34" charset="-120"/>
              </a:rPr>
              <a:t>lab</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，這個資料表的每筆資料紀錄了</a:t>
            </a: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實驗室相關資訊</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a:t>
            </a:r>
          </a:p>
        </p:txBody>
      </p:sp>
      <p:sp>
        <p:nvSpPr>
          <p:cNvPr id="10" name="文字方塊 9">
            <a:extLst>
              <a:ext uri="{FF2B5EF4-FFF2-40B4-BE49-F238E27FC236}">
                <a16:creationId xmlns:a16="http://schemas.microsoft.com/office/drawing/2014/main" id="{A9135A42-A20E-5498-7397-FE84BD653CEA}"/>
              </a:ext>
            </a:extLst>
          </p:cNvPr>
          <p:cNvSpPr txBox="1"/>
          <p:nvPr/>
        </p:nvSpPr>
        <p:spPr>
          <a:xfrm>
            <a:off x="766053" y="2681926"/>
            <a:ext cx="10659893" cy="873316"/>
          </a:xfrm>
          <a:prstGeom prst="rect">
            <a:avLst/>
          </a:prstGeom>
          <a:noFill/>
        </p:spPr>
        <p:txBody>
          <a:bodyPr wrap="square" rtlCol="0">
            <a:spAutoFit/>
          </a:bodyPr>
          <a:lstStyle/>
          <a:p>
            <a:pPr>
              <a:lnSpc>
                <a:spcPct val="150000"/>
              </a:lnSpc>
            </a:pPr>
            <a:r>
              <a:rPr lang="en-US" altLang="zh-TW" sz="1800" dirty="0">
                <a:solidFill>
                  <a:srgbClr val="92D050"/>
                </a:solidFill>
                <a:latin typeface="Times New Roman" panose="02020603050405020304" pitchFamily="18" charset="0"/>
                <a:ea typeface="微軟正黑體" panose="020B0604030504040204" pitchFamily="34" charset="-120"/>
              </a:rPr>
              <a:t>【Easy - 20%】</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某校資工系的學生必須在大三時進入實驗室製作專題，以本學年度來說，學號前四碼是</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2021</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開頭的學生即大三學生。請撰寫一個 </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SQL </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查詢，列出目前大三生人數至少三位的實驗室。</a:t>
            </a:r>
            <a:endParaRPr lang="zh-TW" altLang="en-US" sz="1800" baseline="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2" name="矩形: 圓角 1">
            <a:extLst>
              <a:ext uri="{FF2B5EF4-FFF2-40B4-BE49-F238E27FC236}">
                <a16:creationId xmlns:a16="http://schemas.microsoft.com/office/drawing/2014/main" id="{BC102FDF-C4AA-7E59-68C2-D96CFFB9A34A}"/>
              </a:ext>
            </a:extLst>
          </p:cNvPr>
          <p:cNvSpPr/>
          <p:nvPr/>
        </p:nvSpPr>
        <p:spPr>
          <a:xfrm>
            <a:off x="6144101" y="1100359"/>
            <a:ext cx="4932998" cy="1602483"/>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 name="表格 8">
            <a:extLst>
              <a:ext uri="{FF2B5EF4-FFF2-40B4-BE49-F238E27FC236}">
                <a16:creationId xmlns:a16="http://schemas.microsoft.com/office/drawing/2014/main" id="{CE47CAEB-E4C9-7525-5239-DE97EBBD60C1}"/>
              </a:ext>
            </a:extLst>
          </p:cNvPr>
          <p:cNvGraphicFramePr>
            <a:graphicFrameLocks noGrp="1"/>
          </p:cNvGraphicFramePr>
          <p:nvPr>
            <p:extLst>
              <p:ext uri="{D42A27DB-BD31-4B8C-83A1-F6EECF244321}">
                <p14:modId xmlns:p14="http://schemas.microsoft.com/office/powerpoint/2010/main" val="3284571140"/>
              </p:ext>
            </p:extLst>
          </p:nvPr>
        </p:nvGraphicFramePr>
        <p:xfrm>
          <a:off x="6264885" y="1143152"/>
          <a:ext cx="2324196" cy="1524000"/>
        </p:xfrm>
        <a:graphic>
          <a:graphicData uri="http://schemas.openxmlformats.org/drawingml/2006/table">
            <a:tbl>
              <a:tblPr firstRow="1" bandRow="1">
                <a:tableStyleId>{8799B23B-EC83-4686-B30A-512413B5E67A}</a:tableStyleId>
              </a:tblPr>
              <a:tblGrid>
                <a:gridCol w="1018417">
                  <a:extLst>
                    <a:ext uri="{9D8B030D-6E8A-4147-A177-3AD203B41FA5}">
                      <a16:colId xmlns:a16="http://schemas.microsoft.com/office/drawing/2014/main" val="4287010486"/>
                    </a:ext>
                  </a:extLst>
                </a:gridCol>
                <a:gridCol w="1305779">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Students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name</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VARCHAR</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38200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lab_id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4" name="文字方塊 3">
            <a:extLst>
              <a:ext uri="{FF2B5EF4-FFF2-40B4-BE49-F238E27FC236}">
                <a16:creationId xmlns:a16="http://schemas.microsoft.com/office/drawing/2014/main" id="{D2C35445-3D6C-BD78-FBC4-3226822FAC3B}"/>
              </a:ext>
            </a:extLst>
          </p:cNvPr>
          <p:cNvSpPr txBox="1"/>
          <p:nvPr/>
        </p:nvSpPr>
        <p:spPr>
          <a:xfrm>
            <a:off x="8637719" y="1143152"/>
            <a:ext cx="2184200" cy="1077218"/>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a:solidFill>
                  <a:schemeClr val="bg1">
                    <a:lumMod val="85000"/>
                  </a:schemeClr>
                </a:solidFill>
                <a:latin typeface="Times New Roman" panose="02020603050405020304" pitchFamily="18" charset="0"/>
                <a:ea typeface="微軟正黑體" panose="020B0604030504040204" pitchFamily="34" charset="-120"/>
              </a:rPr>
              <a:t>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，這個資料表的每筆資料紀錄了學生的姓名、學號及加入的實驗室</a:t>
            </a: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a:t>
            </a:r>
            <a:endPar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endParaRPr>
          </a:p>
        </p:txBody>
      </p:sp>
      <p:graphicFrame>
        <p:nvGraphicFramePr>
          <p:cNvPr id="13" name="表格 8">
            <a:extLst>
              <a:ext uri="{FF2B5EF4-FFF2-40B4-BE49-F238E27FC236}">
                <a16:creationId xmlns:a16="http://schemas.microsoft.com/office/drawing/2014/main" id="{70C41803-CB26-923D-0250-9C115709F709}"/>
              </a:ext>
            </a:extLst>
          </p:cNvPr>
          <p:cNvGraphicFramePr>
            <a:graphicFrameLocks noGrp="1"/>
          </p:cNvGraphicFramePr>
          <p:nvPr>
            <p:extLst>
              <p:ext uri="{D42A27DB-BD31-4B8C-83A1-F6EECF244321}">
                <p14:modId xmlns:p14="http://schemas.microsoft.com/office/powerpoint/2010/main" val="383335380"/>
              </p:ext>
            </p:extLst>
          </p:nvPr>
        </p:nvGraphicFramePr>
        <p:xfrm>
          <a:off x="1199018" y="3624506"/>
          <a:ext cx="2363892" cy="1875772"/>
        </p:xfrm>
        <a:graphic>
          <a:graphicData uri="http://schemas.openxmlformats.org/drawingml/2006/table">
            <a:tbl>
              <a:tblPr firstRow="1" bandRow="1">
                <a:tableStyleId>{8799B23B-EC83-4686-B30A-512413B5E67A}</a:tableStyleId>
              </a:tblPr>
              <a:tblGrid>
                <a:gridCol w="2363892">
                  <a:extLst>
                    <a:ext uri="{9D8B030D-6E8A-4147-A177-3AD203B41FA5}">
                      <a16:colId xmlns:a16="http://schemas.microsoft.com/office/drawing/2014/main" val="4287010486"/>
                    </a:ext>
                  </a:extLst>
                </a:gridCol>
              </a:tblGrid>
              <a:tr h="2004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Labs</a:t>
                      </a: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1570972">
                <a:tc>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bl>
          </a:graphicData>
        </a:graphic>
      </p:graphicFrame>
      <p:pic>
        <p:nvPicPr>
          <p:cNvPr id="16" name="圖片 15">
            <a:extLst>
              <a:ext uri="{FF2B5EF4-FFF2-40B4-BE49-F238E27FC236}">
                <a16:creationId xmlns:a16="http://schemas.microsoft.com/office/drawing/2014/main" id="{E29CEB52-F8CD-1E66-88F3-0BBCF6728567}"/>
              </a:ext>
            </a:extLst>
          </p:cNvPr>
          <p:cNvPicPr>
            <a:picLocks noChangeAspect="1"/>
          </p:cNvPicPr>
          <p:nvPr/>
        </p:nvPicPr>
        <p:blipFill>
          <a:blip r:embed="rId3"/>
          <a:srcRect/>
          <a:stretch/>
        </p:blipFill>
        <p:spPr>
          <a:xfrm>
            <a:off x="1213409" y="3986237"/>
            <a:ext cx="2349500" cy="1409700"/>
          </a:xfrm>
          <a:prstGeom prst="rect">
            <a:avLst/>
          </a:prstGeom>
        </p:spPr>
      </p:pic>
      <p:sp>
        <p:nvSpPr>
          <p:cNvPr id="18" name="文字方塊 17">
            <a:extLst>
              <a:ext uri="{FF2B5EF4-FFF2-40B4-BE49-F238E27FC236}">
                <a16:creationId xmlns:a16="http://schemas.microsoft.com/office/drawing/2014/main" id="{82ADD05E-D384-056D-FCF4-85E55CD60DD6}"/>
              </a:ext>
            </a:extLst>
          </p:cNvPr>
          <p:cNvSpPr txBox="1"/>
          <p:nvPr/>
        </p:nvSpPr>
        <p:spPr>
          <a:xfrm>
            <a:off x="766050" y="3555242"/>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範例輸入</a:t>
            </a:r>
          </a:p>
        </p:txBody>
      </p:sp>
      <p:sp>
        <p:nvSpPr>
          <p:cNvPr id="19" name="文字方塊 18">
            <a:extLst>
              <a:ext uri="{FF2B5EF4-FFF2-40B4-BE49-F238E27FC236}">
                <a16:creationId xmlns:a16="http://schemas.microsoft.com/office/drawing/2014/main" id="{437561AC-C01B-3258-0D7C-39E1B8B64A2F}"/>
              </a:ext>
            </a:extLst>
          </p:cNvPr>
          <p:cNvSpPr txBox="1"/>
          <p:nvPr/>
        </p:nvSpPr>
        <p:spPr>
          <a:xfrm>
            <a:off x="6554102" y="3556711"/>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範例輸出</a:t>
            </a:r>
          </a:p>
        </p:txBody>
      </p:sp>
      <p:cxnSp>
        <p:nvCxnSpPr>
          <p:cNvPr id="20" name="直線接點 19">
            <a:extLst>
              <a:ext uri="{FF2B5EF4-FFF2-40B4-BE49-F238E27FC236}">
                <a16:creationId xmlns:a16="http://schemas.microsoft.com/office/drawing/2014/main" id="{599888D1-7FCF-F1C6-FCBC-7B667E648125}"/>
              </a:ext>
            </a:extLst>
          </p:cNvPr>
          <p:cNvCxnSpPr>
            <a:cxnSpLocks/>
          </p:cNvCxnSpPr>
          <p:nvPr/>
        </p:nvCxnSpPr>
        <p:spPr>
          <a:xfrm>
            <a:off x="6545450" y="3737257"/>
            <a:ext cx="0" cy="286556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17" name="表格 8">
            <a:extLst>
              <a:ext uri="{FF2B5EF4-FFF2-40B4-BE49-F238E27FC236}">
                <a16:creationId xmlns:a16="http://schemas.microsoft.com/office/drawing/2014/main" id="{7D55D6A1-0BF7-4DE6-F371-77B448A09F92}"/>
              </a:ext>
            </a:extLst>
          </p:cNvPr>
          <p:cNvGraphicFramePr>
            <a:graphicFrameLocks noGrp="1"/>
          </p:cNvGraphicFramePr>
          <p:nvPr>
            <p:extLst>
              <p:ext uri="{D42A27DB-BD31-4B8C-83A1-F6EECF244321}">
                <p14:modId xmlns:p14="http://schemas.microsoft.com/office/powerpoint/2010/main" val="3936413326"/>
              </p:ext>
            </p:extLst>
          </p:nvPr>
        </p:nvGraphicFramePr>
        <p:xfrm>
          <a:off x="3732108" y="3624505"/>
          <a:ext cx="2551388" cy="3149967"/>
        </p:xfrm>
        <a:graphic>
          <a:graphicData uri="http://schemas.openxmlformats.org/drawingml/2006/table">
            <a:tbl>
              <a:tblPr firstRow="1" bandRow="1">
                <a:tableStyleId>{8799B23B-EC83-4686-B30A-512413B5E67A}</a:tableStyleId>
              </a:tblPr>
              <a:tblGrid>
                <a:gridCol w="2551388">
                  <a:extLst>
                    <a:ext uri="{9D8B030D-6E8A-4147-A177-3AD203B41FA5}">
                      <a16:colId xmlns:a16="http://schemas.microsoft.com/office/drawing/2014/main" val="4287010486"/>
                    </a:ext>
                  </a:extLst>
                </a:gridCol>
              </a:tblGrid>
              <a:tr h="33747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Students</a:t>
                      </a: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812490">
                <a:tc>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bl>
          </a:graphicData>
        </a:graphic>
      </p:graphicFrame>
      <p:pic>
        <p:nvPicPr>
          <p:cNvPr id="24" name="圖片 23">
            <a:extLst>
              <a:ext uri="{FF2B5EF4-FFF2-40B4-BE49-F238E27FC236}">
                <a16:creationId xmlns:a16="http://schemas.microsoft.com/office/drawing/2014/main" id="{46CD2027-9E24-CB4B-C062-B264E3101780}"/>
              </a:ext>
            </a:extLst>
          </p:cNvPr>
          <p:cNvPicPr>
            <a:picLocks noChangeAspect="1"/>
          </p:cNvPicPr>
          <p:nvPr/>
        </p:nvPicPr>
        <p:blipFill>
          <a:blip r:embed="rId4"/>
          <a:stretch>
            <a:fillRect/>
          </a:stretch>
        </p:blipFill>
        <p:spPr>
          <a:xfrm>
            <a:off x="3732107" y="3909303"/>
            <a:ext cx="2534916" cy="2865169"/>
          </a:xfrm>
          <a:prstGeom prst="rect">
            <a:avLst/>
          </a:prstGeom>
        </p:spPr>
      </p:pic>
      <p:pic>
        <p:nvPicPr>
          <p:cNvPr id="29" name="圖片 28">
            <a:extLst>
              <a:ext uri="{FF2B5EF4-FFF2-40B4-BE49-F238E27FC236}">
                <a16:creationId xmlns:a16="http://schemas.microsoft.com/office/drawing/2014/main" id="{7B3A5BCB-8C57-A187-C3A5-9C5BB4E6DF34}"/>
              </a:ext>
            </a:extLst>
          </p:cNvPr>
          <p:cNvPicPr>
            <a:picLocks noChangeAspect="1"/>
          </p:cNvPicPr>
          <p:nvPr/>
        </p:nvPicPr>
        <p:blipFill>
          <a:blip r:embed="rId5"/>
          <a:stretch>
            <a:fillRect/>
          </a:stretch>
        </p:blipFill>
        <p:spPr>
          <a:xfrm>
            <a:off x="7018469" y="3689645"/>
            <a:ext cx="1619250" cy="914400"/>
          </a:xfrm>
          <a:prstGeom prst="rect">
            <a:avLst/>
          </a:prstGeom>
        </p:spPr>
      </p:pic>
    </p:spTree>
    <p:extLst>
      <p:ext uri="{BB962C8B-B14F-4D97-AF65-F5344CB8AC3E}">
        <p14:creationId xmlns:p14="http://schemas.microsoft.com/office/powerpoint/2010/main" val="302491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7" name="矩形: 圓角 6">
            <a:extLst>
              <a:ext uri="{FF2B5EF4-FFF2-40B4-BE49-F238E27FC236}">
                <a16:creationId xmlns:a16="http://schemas.microsoft.com/office/drawing/2014/main" id="{357318A5-3917-E446-0AEB-F894738E65EC}"/>
              </a:ext>
            </a:extLst>
          </p:cNvPr>
          <p:cNvSpPr/>
          <p:nvPr/>
        </p:nvSpPr>
        <p:spPr>
          <a:xfrm>
            <a:off x="766051" y="3941600"/>
            <a:ext cx="10659894" cy="2832872"/>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2" name="表格 8">
            <a:extLst>
              <a:ext uri="{FF2B5EF4-FFF2-40B4-BE49-F238E27FC236}">
                <a16:creationId xmlns:a16="http://schemas.microsoft.com/office/drawing/2014/main" id="{879B1003-ADD0-7C1D-44A6-0E1FC1AE59EE}"/>
              </a:ext>
            </a:extLst>
          </p:cNvPr>
          <p:cNvGraphicFramePr>
            <a:graphicFrameLocks noGrp="1"/>
          </p:cNvGraphicFramePr>
          <p:nvPr>
            <p:extLst>
              <p:ext uri="{D42A27DB-BD31-4B8C-83A1-F6EECF244321}">
                <p14:modId xmlns:p14="http://schemas.microsoft.com/office/powerpoint/2010/main" val="3124561259"/>
              </p:ext>
            </p:extLst>
          </p:nvPr>
        </p:nvGraphicFramePr>
        <p:xfrm>
          <a:off x="1217873" y="4024008"/>
          <a:ext cx="2496875" cy="2693478"/>
        </p:xfrm>
        <a:graphic>
          <a:graphicData uri="http://schemas.openxmlformats.org/drawingml/2006/table">
            <a:tbl>
              <a:tblPr firstRow="1" bandRow="1">
                <a:tableStyleId>{8799B23B-EC83-4686-B30A-512413B5E67A}</a:tableStyleId>
              </a:tblPr>
              <a:tblGrid>
                <a:gridCol w="2496875">
                  <a:extLst>
                    <a:ext uri="{9D8B030D-6E8A-4147-A177-3AD203B41FA5}">
                      <a16:colId xmlns:a16="http://schemas.microsoft.com/office/drawing/2014/main" val="4287010486"/>
                    </a:ext>
                  </a:extLst>
                </a:gridCol>
              </a:tblGrid>
              <a:tr h="27257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Logs</a:t>
                      </a: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388678">
                <a:tc>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bl>
          </a:graphicData>
        </a:graphic>
      </p:graphicFrame>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題目</a:t>
            </a:r>
            <a:r>
              <a:rPr lang="en-US" altLang="zh-TW"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#4 –</a:t>
            </a: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 櫥窗購物</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5" name="Google Shape;86;p1">
            <a:extLst>
              <a:ext uri="{FF2B5EF4-FFF2-40B4-BE49-F238E27FC236}">
                <a16:creationId xmlns:a16="http://schemas.microsoft.com/office/drawing/2014/main" id="{8CEE353B-5820-5F05-923A-90DAA220A0FB}"/>
              </a:ext>
            </a:extLst>
          </p:cNvPr>
          <p:cNvSpPr txBox="1">
            <a:spLocks noGrp="1"/>
          </p:cNvSpPr>
          <p:nvPr>
            <p:ph type="sldNum" idx="12"/>
          </p:nvPr>
        </p:nvSpPr>
        <p:spPr>
          <a:xfrm>
            <a:off x="8610600" y="6409347"/>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6</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6" name="矩形: 圓角 5">
            <a:extLst>
              <a:ext uri="{FF2B5EF4-FFF2-40B4-BE49-F238E27FC236}">
                <a16:creationId xmlns:a16="http://schemas.microsoft.com/office/drawing/2014/main" id="{01A207A8-1342-B4F0-6740-F8C95A4D194F}"/>
              </a:ext>
            </a:extLst>
          </p:cNvPr>
          <p:cNvSpPr/>
          <p:nvPr/>
        </p:nvSpPr>
        <p:spPr>
          <a:xfrm>
            <a:off x="766053" y="1377142"/>
            <a:ext cx="4932998" cy="1325700"/>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8">
            <a:extLst>
              <a:ext uri="{FF2B5EF4-FFF2-40B4-BE49-F238E27FC236}">
                <a16:creationId xmlns:a16="http://schemas.microsoft.com/office/drawing/2014/main" id="{95D318D1-F3C5-EB0E-5A9C-86C64118A918}"/>
              </a:ext>
            </a:extLst>
          </p:cNvPr>
          <p:cNvGraphicFramePr>
            <a:graphicFrameLocks noGrp="1"/>
          </p:cNvGraphicFramePr>
          <p:nvPr>
            <p:extLst>
              <p:ext uri="{D42A27DB-BD31-4B8C-83A1-F6EECF244321}">
                <p14:modId xmlns:p14="http://schemas.microsoft.com/office/powerpoint/2010/main" val="2733719859"/>
              </p:ext>
            </p:extLst>
          </p:nvPr>
        </p:nvGraphicFramePr>
        <p:xfrm>
          <a:off x="886837" y="1419934"/>
          <a:ext cx="2324196" cy="1219200"/>
        </p:xfrm>
        <a:graphic>
          <a:graphicData uri="http://schemas.openxmlformats.org/drawingml/2006/table">
            <a:tbl>
              <a:tblPr firstRow="1" bandRow="1">
                <a:tableStyleId>{8799B23B-EC83-4686-B30A-512413B5E67A}</a:tableStyleId>
              </a:tblPr>
              <a:tblGrid>
                <a:gridCol w="1403942">
                  <a:extLst>
                    <a:ext uri="{9D8B030D-6E8A-4147-A177-3AD203B41FA5}">
                      <a16:colId xmlns:a16="http://schemas.microsoft.com/office/drawing/2014/main" val="4287010486"/>
                    </a:ext>
                  </a:extLst>
                </a:gridCol>
                <a:gridCol w="920254">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Logs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entered_id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shopper_id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9" name="文字方塊 8">
            <a:extLst>
              <a:ext uri="{FF2B5EF4-FFF2-40B4-BE49-F238E27FC236}">
                <a16:creationId xmlns:a16="http://schemas.microsoft.com/office/drawing/2014/main" id="{E9F56F7A-D154-0C7E-3D0B-49300B195CA0}"/>
              </a:ext>
            </a:extLst>
          </p:cNvPr>
          <p:cNvSpPr txBox="1"/>
          <p:nvPr/>
        </p:nvSpPr>
        <p:spPr>
          <a:xfrm>
            <a:off x="3259671" y="1419934"/>
            <a:ext cx="2439380" cy="1077218"/>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entered_id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，這個資料表的每筆資料紀錄了顧客進入超市的流水號及其會員編號。</a:t>
            </a:r>
          </a:p>
        </p:txBody>
      </p:sp>
      <p:sp>
        <p:nvSpPr>
          <p:cNvPr id="10" name="文字方塊 9">
            <a:extLst>
              <a:ext uri="{FF2B5EF4-FFF2-40B4-BE49-F238E27FC236}">
                <a16:creationId xmlns:a16="http://schemas.microsoft.com/office/drawing/2014/main" id="{A9135A42-A20E-5498-7397-FE84BD653CEA}"/>
              </a:ext>
            </a:extLst>
          </p:cNvPr>
          <p:cNvSpPr txBox="1"/>
          <p:nvPr/>
        </p:nvSpPr>
        <p:spPr>
          <a:xfrm>
            <a:off x="766051" y="2976664"/>
            <a:ext cx="10659893" cy="873316"/>
          </a:xfrm>
          <a:prstGeom prst="rect">
            <a:avLst/>
          </a:prstGeom>
          <a:noFill/>
        </p:spPr>
        <p:txBody>
          <a:bodyPr wrap="square" rtlCol="0">
            <a:spAutoFit/>
          </a:bodyPr>
          <a:lstStyle/>
          <a:p>
            <a:pPr>
              <a:lnSpc>
                <a:spcPct val="150000"/>
              </a:lnSpc>
            </a:pPr>
            <a:r>
              <a:rPr lang="en-US" altLang="zh-TW" sz="1800" dirty="0">
                <a:solidFill>
                  <a:srgbClr val="92D050"/>
                </a:solidFill>
                <a:latin typeface="Times New Roman" panose="02020603050405020304" pitchFamily="18" charset="0"/>
                <a:ea typeface="微軟正黑體" panose="020B0604030504040204" pitchFamily="34" charset="-120"/>
              </a:rPr>
              <a:t>【Easy - 20%】</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所謂的櫥窗購物指消費者瀏覽或檢查商店商品，卻沒有購買意圖。請撰寫一個 </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SQL </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查詢，列出所有進入超市卻未進行消費的會員，以及未消費的次數。查詢結果的格式如下所示的範例。</a:t>
            </a:r>
            <a:endParaRPr lang="zh-TW" altLang="en-US" sz="1800" baseline="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2" name="矩形: 圓角 1">
            <a:extLst>
              <a:ext uri="{FF2B5EF4-FFF2-40B4-BE49-F238E27FC236}">
                <a16:creationId xmlns:a16="http://schemas.microsoft.com/office/drawing/2014/main" id="{BC102FDF-C4AA-7E59-68C2-D96CFFB9A34A}"/>
              </a:ext>
            </a:extLst>
          </p:cNvPr>
          <p:cNvSpPr/>
          <p:nvPr/>
        </p:nvSpPr>
        <p:spPr>
          <a:xfrm>
            <a:off x="6005656" y="1374180"/>
            <a:ext cx="4932998" cy="1602483"/>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 name="表格 8">
            <a:extLst>
              <a:ext uri="{FF2B5EF4-FFF2-40B4-BE49-F238E27FC236}">
                <a16:creationId xmlns:a16="http://schemas.microsoft.com/office/drawing/2014/main" id="{CE47CAEB-E4C9-7525-5239-DE97EBBD60C1}"/>
              </a:ext>
            </a:extLst>
          </p:cNvPr>
          <p:cNvGraphicFramePr>
            <a:graphicFrameLocks noGrp="1"/>
          </p:cNvGraphicFramePr>
          <p:nvPr>
            <p:extLst>
              <p:ext uri="{D42A27DB-BD31-4B8C-83A1-F6EECF244321}">
                <p14:modId xmlns:p14="http://schemas.microsoft.com/office/powerpoint/2010/main" val="3260376842"/>
              </p:ext>
            </p:extLst>
          </p:nvPr>
        </p:nvGraphicFramePr>
        <p:xfrm>
          <a:off x="6126440" y="1416973"/>
          <a:ext cx="2324196" cy="1524000"/>
        </p:xfrm>
        <a:graphic>
          <a:graphicData uri="http://schemas.openxmlformats.org/drawingml/2006/table">
            <a:tbl>
              <a:tblPr firstRow="1" bandRow="1">
                <a:tableStyleId>{8799B23B-EC83-4686-B30A-512413B5E67A}</a:tableStyleId>
              </a:tblPr>
              <a:tblGrid>
                <a:gridCol w="1403942">
                  <a:extLst>
                    <a:ext uri="{9D8B030D-6E8A-4147-A177-3AD203B41FA5}">
                      <a16:colId xmlns:a16="http://schemas.microsoft.com/office/drawing/2014/main" val="4287010486"/>
                    </a:ext>
                  </a:extLst>
                </a:gridCol>
                <a:gridCol w="920254">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Orders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order_id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entered_id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382002"/>
                  </a:ext>
                </a:extLst>
              </a:tr>
              <a:tr h="277763">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amount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4" name="文字方塊 3">
            <a:extLst>
              <a:ext uri="{FF2B5EF4-FFF2-40B4-BE49-F238E27FC236}">
                <a16:creationId xmlns:a16="http://schemas.microsoft.com/office/drawing/2014/main" id="{D2C35445-3D6C-BD78-FBC4-3226822FAC3B}"/>
              </a:ext>
            </a:extLst>
          </p:cNvPr>
          <p:cNvSpPr txBox="1"/>
          <p:nvPr/>
        </p:nvSpPr>
        <p:spPr>
          <a:xfrm>
            <a:off x="8499274" y="1416973"/>
            <a:ext cx="2184200" cy="1323439"/>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order_id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，這個資料表的每筆資料紀錄參照</a:t>
            </a:r>
            <a:r>
              <a:rPr lang="en-US" altLang="zh-TW" sz="1600" baseline="0" dirty="0">
                <a:solidFill>
                  <a:schemeClr val="bg1">
                    <a:lumMod val="85000"/>
                  </a:schemeClr>
                </a:solidFill>
                <a:latin typeface="Times New Roman" panose="02020603050405020304" pitchFamily="18" charset="0"/>
                <a:ea typeface="微軟正黑體" panose="020B0604030504040204" pitchFamily="34" charset="-120"/>
              </a:rPr>
              <a:t>Logs</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資料表的</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entered_id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以及</a:t>
            </a:r>
            <a:r>
              <a:rPr lang="zh-TW" altLang="en-US" sz="1600">
                <a:solidFill>
                  <a:schemeClr val="bg1">
                    <a:lumMod val="85000"/>
                  </a:schemeClr>
                </a:solidFill>
                <a:latin typeface="Times New Roman" panose="02020603050405020304" pitchFamily="18" charset="0"/>
                <a:ea typeface="微軟正黑體" panose="020B0604030504040204" pitchFamily="34" charset="-120"/>
              </a:rPr>
              <a:t>其消費資訊。</a:t>
            </a:r>
            <a:endPar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endParaRPr>
          </a:p>
        </p:txBody>
      </p:sp>
      <p:pic>
        <p:nvPicPr>
          <p:cNvPr id="11" name="圖片 10">
            <a:extLst>
              <a:ext uri="{FF2B5EF4-FFF2-40B4-BE49-F238E27FC236}">
                <a16:creationId xmlns:a16="http://schemas.microsoft.com/office/drawing/2014/main" id="{BCECCABF-E3F4-5F74-2A13-9350362DF7B6}"/>
              </a:ext>
            </a:extLst>
          </p:cNvPr>
          <p:cNvPicPr>
            <a:picLocks noChangeAspect="1"/>
          </p:cNvPicPr>
          <p:nvPr/>
        </p:nvPicPr>
        <p:blipFill>
          <a:blip r:embed="rId3"/>
          <a:stretch>
            <a:fillRect/>
          </a:stretch>
        </p:blipFill>
        <p:spPr>
          <a:xfrm>
            <a:off x="1275686" y="4355783"/>
            <a:ext cx="2381250" cy="2333625"/>
          </a:xfrm>
          <a:prstGeom prst="rect">
            <a:avLst/>
          </a:prstGeom>
        </p:spPr>
      </p:pic>
      <p:graphicFrame>
        <p:nvGraphicFramePr>
          <p:cNvPr id="13" name="表格 8">
            <a:extLst>
              <a:ext uri="{FF2B5EF4-FFF2-40B4-BE49-F238E27FC236}">
                <a16:creationId xmlns:a16="http://schemas.microsoft.com/office/drawing/2014/main" id="{70C41803-CB26-923D-0250-9C115709F709}"/>
              </a:ext>
            </a:extLst>
          </p:cNvPr>
          <p:cNvGraphicFramePr>
            <a:graphicFrameLocks noGrp="1"/>
          </p:cNvGraphicFramePr>
          <p:nvPr>
            <p:extLst>
              <p:ext uri="{D42A27DB-BD31-4B8C-83A1-F6EECF244321}">
                <p14:modId xmlns:p14="http://schemas.microsoft.com/office/powerpoint/2010/main" val="80883856"/>
              </p:ext>
            </p:extLst>
          </p:nvPr>
        </p:nvGraphicFramePr>
        <p:xfrm>
          <a:off x="3838132" y="4022024"/>
          <a:ext cx="3009235" cy="1875772"/>
        </p:xfrm>
        <a:graphic>
          <a:graphicData uri="http://schemas.openxmlformats.org/drawingml/2006/table">
            <a:tbl>
              <a:tblPr firstRow="1" bandRow="1">
                <a:tableStyleId>{8799B23B-EC83-4686-B30A-512413B5E67A}</a:tableStyleId>
              </a:tblPr>
              <a:tblGrid>
                <a:gridCol w="3009235">
                  <a:extLst>
                    <a:ext uri="{9D8B030D-6E8A-4147-A177-3AD203B41FA5}">
                      <a16:colId xmlns:a16="http://schemas.microsoft.com/office/drawing/2014/main" val="4287010486"/>
                    </a:ext>
                  </a:extLst>
                </a:gridCol>
              </a:tblGrid>
              <a:tr h="2004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Orders</a:t>
                      </a: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1570972">
                <a:tc>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bl>
          </a:graphicData>
        </a:graphic>
      </p:graphicFrame>
      <p:pic>
        <p:nvPicPr>
          <p:cNvPr id="16" name="圖片 15">
            <a:extLst>
              <a:ext uri="{FF2B5EF4-FFF2-40B4-BE49-F238E27FC236}">
                <a16:creationId xmlns:a16="http://schemas.microsoft.com/office/drawing/2014/main" id="{E29CEB52-F8CD-1E66-88F3-0BBCF6728567}"/>
              </a:ext>
            </a:extLst>
          </p:cNvPr>
          <p:cNvPicPr>
            <a:picLocks noChangeAspect="1"/>
          </p:cNvPicPr>
          <p:nvPr/>
        </p:nvPicPr>
        <p:blipFill>
          <a:blip r:embed="rId4"/>
          <a:stretch>
            <a:fillRect/>
          </a:stretch>
        </p:blipFill>
        <p:spPr>
          <a:xfrm>
            <a:off x="3864045" y="4383755"/>
            <a:ext cx="2971800" cy="1409700"/>
          </a:xfrm>
          <a:prstGeom prst="rect">
            <a:avLst/>
          </a:prstGeom>
        </p:spPr>
      </p:pic>
      <p:pic>
        <p:nvPicPr>
          <p:cNvPr id="22" name="圖片 21">
            <a:extLst>
              <a:ext uri="{FF2B5EF4-FFF2-40B4-BE49-F238E27FC236}">
                <a16:creationId xmlns:a16="http://schemas.microsoft.com/office/drawing/2014/main" id="{97C75630-A8E1-16F2-8580-620D5239620F}"/>
              </a:ext>
            </a:extLst>
          </p:cNvPr>
          <p:cNvPicPr>
            <a:picLocks noChangeAspect="1"/>
          </p:cNvPicPr>
          <p:nvPr/>
        </p:nvPicPr>
        <p:blipFill>
          <a:blip r:embed="rId5"/>
          <a:stretch>
            <a:fillRect/>
          </a:stretch>
        </p:blipFill>
        <p:spPr>
          <a:xfrm>
            <a:off x="7479783" y="4022145"/>
            <a:ext cx="2543175" cy="1266825"/>
          </a:xfrm>
          <a:prstGeom prst="rect">
            <a:avLst/>
          </a:prstGeom>
        </p:spPr>
      </p:pic>
      <p:sp>
        <p:nvSpPr>
          <p:cNvPr id="18" name="文字方塊 17">
            <a:extLst>
              <a:ext uri="{FF2B5EF4-FFF2-40B4-BE49-F238E27FC236}">
                <a16:creationId xmlns:a16="http://schemas.microsoft.com/office/drawing/2014/main" id="{82ADD05E-D384-056D-FCF4-85E55CD60DD6}"/>
              </a:ext>
            </a:extLst>
          </p:cNvPr>
          <p:cNvSpPr txBox="1"/>
          <p:nvPr/>
        </p:nvSpPr>
        <p:spPr>
          <a:xfrm>
            <a:off x="766051" y="3984583"/>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範例輸入</a:t>
            </a:r>
          </a:p>
        </p:txBody>
      </p:sp>
      <p:sp>
        <p:nvSpPr>
          <p:cNvPr id="19" name="文字方塊 18">
            <a:extLst>
              <a:ext uri="{FF2B5EF4-FFF2-40B4-BE49-F238E27FC236}">
                <a16:creationId xmlns:a16="http://schemas.microsoft.com/office/drawing/2014/main" id="{437561AC-C01B-3258-0D7C-39E1B8B64A2F}"/>
              </a:ext>
            </a:extLst>
          </p:cNvPr>
          <p:cNvSpPr txBox="1"/>
          <p:nvPr/>
        </p:nvSpPr>
        <p:spPr>
          <a:xfrm>
            <a:off x="7029756" y="3941600"/>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範例輸出</a:t>
            </a:r>
          </a:p>
        </p:txBody>
      </p:sp>
      <p:cxnSp>
        <p:nvCxnSpPr>
          <p:cNvPr id="20" name="直線接點 19">
            <a:extLst>
              <a:ext uri="{FF2B5EF4-FFF2-40B4-BE49-F238E27FC236}">
                <a16:creationId xmlns:a16="http://schemas.microsoft.com/office/drawing/2014/main" id="{599888D1-7FCF-F1C6-FCBC-7B667E648125}"/>
              </a:ext>
            </a:extLst>
          </p:cNvPr>
          <p:cNvCxnSpPr>
            <a:cxnSpLocks/>
          </p:cNvCxnSpPr>
          <p:nvPr/>
        </p:nvCxnSpPr>
        <p:spPr>
          <a:xfrm>
            <a:off x="7013283" y="4093534"/>
            <a:ext cx="0" cy="256397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490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2" name="矩形: 圓角 1">
            <a:extLst>
              <a:ext uri="{FF2B5EF4-FFF2-40B4-BE49-F238E27FC236}">
                <a16:creationId xmlns:a16="http://schemas.microsoft.com/office/drawing/2014/main" id="{BEC8BDE2-A9A7-E771-AAF7-1F2275BEC501}"/>
              </a:ext>
            </a:extLst>
          </p:cNvPr>
          <p:cNvSpPr/>
          <p:nvPr/>
        </p:nvSpPr>
        <p:spPr>
          <a:xfrm>
            <a:off x="766051" y="4188882"/>
            <a:ext cx="10659894" cy="2403027"/>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題目</a:t>
            </a:r>
            <a:r>
              <a:rPr lang="en-US" altLang="zh-TW"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#5 – </a:t>
            </a: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退選的組員</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5" name="Google Shape;86;p1">
            <a:extLst>
              <a:ext uri="{FF2B5EF4-FFF2-40B4-BE49-F238E27FC236}">
                <a16:creationId xmlns:a16="http://schemas.microsoft.com/office/drawing/2014/main" id="{8CEE353B-5820-5F05-923A-90DAA220A0FB}"/>
              </a:ext>
            </a:extLst>
          </p:cNvPr>
          <p:cNvSpPr txBox="1">
            <a:spLocks noGrp="1"/>
          </p:cNvSpPr>
          <p:nvPr>
            <p:ph type="sldNum" idx="12"/>
          </p:nvPr>
        </p:nvSpPr>
        <p:spPr>
          <a:xfrm>
            <a:off x="8610600" y="6409347"/>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7</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6" name="矩形: 圓角 5">
            <a:extLst>
              <a:ext uri="{FF2B5EF4-FFF2-40B4-BE49-F238E27FC236}">
                <a16:creationId xmlns:a16="http://schemas.microsoft.com/office/drawing/2014/main" id="{01A207A8-1342-B4F0-6740-F8C95A4D194F}"/>
              </a:ext>
            </a:extLst>
          </p:cNvPr>
          <p:cNvSpPr/>
          <p:nvPr/>
        </p:nvSpPr>
        <p:spPr>
          <a:xfrm>
            <a:off x="766053" y="1377141"/>
            <a:ext cx="10659894" cy="1416961"/>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8">
            <a:extLst>
              <a:ext uri="{FF2B5EF4-FFF2-40B4-BE49-F238E27FC236}">
                <a16:creationId xmlns:a16="http://schemas.microsoft.com/office/drawing/2014/main" id="{95D318D1-F3C5-EB0E-5A9C-86C64118A918}"/>
              </a:ext>
            </a:extLst>
          </p:cNvPr>
          <p:cNvGraphicFramePr>
            <a:graphicFrameLocks noGrp="1"/>
          </p:cNvGraphicFramePr>
          <p:nvPr>
            <p:extLst>
              <p:ext uri="{D42A27DB-BD31-4B8C-83A1-F6EECF244321}">
                <p14:modId xmlns:p14="http://schemas.microsoft.com/office/powerpoint/2010/main" val="1392641233"/>
              </p:ext>
            </p:extLst>
          </p:nvPr>
        </p:nvGraphicFramePr>
        <p:xfrm>
          <a:off x="886837" y="1419934"/>
          <a:ext cx="3055566" cy="1219200"/>
        </p:xfrm>
        <a:graphic>
          <a:graphicData uri="http://schemas.openxmlformats.org/drawingml/2006/table">
            <a:tbl>
              <a:tblPr firstRow="1" bandRow="1">
                <a:tableStyleId>{8799B23B-EC83-4686-B30A-512413B5E67A}</a:tableStyleId>
              </a:tblPr>
              <a:tblGrid>
                <a:gridCol w="1527783">
                  <a:extLst>
                    <a:ext uri="{9D8B030D-6E8A-4147-A177-3AD203B41FA5}">
                      <a16:colId xmlns:a16="http://schemas.microsoft.com/office/drawing/2014/main" val="4287010486"/>
                    </a:ext>
                  </a:extLst>
                </a:gridCol>
                <a:gridCol w="1527783">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Takes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student_id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parner_id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9" name="文字方塊 8">
            <a:extLst>
              <a:ext uri="{FF2B5EF4-FFF2-40B4-BE49-F238E27FC236}">
                <a16:creationId xmlns:a16="http://schemas.microsoft.com/office/drawing/2014/main" id="{E9F56F7A-D154-0C7E-3D0B-49300B195CA0}"/>
              </a:ext>
            </a:extLst>
          </p:cNvPr>
          <p:cNvSpPr txBox="1"/>
          <p:nvPr/>
        </p:nvSpPr>
        <p:spPr>
          <a:xfrm>
            <a:off x="3942403" y="1419934"/>
            <a:ext cx="7030392" cy="584775"/>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student_id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，這個資料表的每筆資料紀錄了</a:t>
            </a: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某門課程的修課生清單，由於期末時需要專題報告，因此存在組員</a:t>
            </a:r>
            <a:r>
              <a:rPr lang="en-US" altLang="zh-TW" sz="1600" dirty="0">
                <a:solidFill>
                  <a:schemeClr val="bg1">
                    <a:lumMod val="85000"/>
                  </a:schemeClr>
                </a:solidFill>
                <a:latin typeface="Times New Roman" panose="02020603050405020304" pitchFamily="18" charset="0"/>
                <a:ea typeface="微軟正黑體" panose="020B0604030504040204" pitchFamily="34" charset="-120"/>
              </a:rPr>
              <a:t>ID</a:t>
            </a: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的欄位</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a:t>
            </a:r>
            <a:endParaRPr lang="en-US" altLang="zh-TW" sz="1600" baseline="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10" name="文字方塊 9">
            <a:extLst>
              <a:ext uri="{FF2B5EF4-FFF2-40B4-BE49-F238E27FC236}">
                <a16:creationId xmlns:a16="http://schemas.microsoft.com/office/drawing/2014/main" id="{A9135A42-A20E-5498-7397-FE84BD653CEA}"/>
              </a:ext>
            </a:extLst>
          </p:cNvPr>
          <p:cNvSpPr txBox="1"/>
          <p:nvPr/>
        </p:nvSpPr>
        <p:spPr>
          <a:xfrm>
            <a:off x="766050" y="2771922"/>
            <a:ext cx="10659893" cy="1288814"/>
          </a:xfrm>
          <a:prstGeom prst="rect">
            <a:avLst/>
          </a:prstGeom>
          <a:noFill/>
        </p:spPr>
        <p:txBody>
          <a:bodyPr wrap="square" rtlCol="0">
            <a:spAutoFit/>
          </a:bodyPr>
          <a:lstStyle/>
          <a:p>
            <a:pPr>
              <a:lnSpc>
                <a:spcPct val="150000"/>
              </a:lnSpc>
            </a:pPr>
            <a:r>
              <a:rPr lang="en-US" altLang="zh-TW" sz="1800" dirty="0">
                <a:solidFill>
                  <a:srgbClr val="92D050"/>
                </a:solidFill>
                <a:latin typeface="Times New Roman" panose="02020603050405020304" pitchFamily="18" charset="0"/>
                <a:ea typeface="微軟正黑體" panose="020B0604030504040204" pitchFamily="34" charset="-120"/>
              </a:rPr>
              <a:t>【Easy - 20%】</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某門課程在期中預警退選過後少了一些修課生，而退選學生的資料會從修課資料表中移除，不幸的是，這門課程在學期初時就已經分配好期末專題的組員了。請撰寫一個 </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SQL </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查詢，找出那些沒有組員的學生</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ID</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，好讓老師重新分組。</a:t>
            </a:r>
            <a:endParaRPr lang="zh-TW" altLang="en-US" sz="1800" baseline="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3" name="文字方塊 2">
            <a:extLst>
              <a:ext uri="{FF2B5EF4-FFF2-40B4-BE49-F238E27FC236}">
                <a16:creationId xmlns:a16="http://schemas.microsoft.com/office/drawing/2014/main" id="{7AF45B83-558F-4E6C-FA0D-315DA1F44B09}"/>
              </a:ext>
            </a:extLst>
          </p:cNvPr>
          <p:cNvSpPr txBox="1"/>
          <p:nvPr/>
        </p:nvSpPr>
        <p:spPr>
          <a:xfrm>
            <a:off x="766051" y="4165339"/>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範例輸入</a:t>
            </a:r>
          </a:p>
        </p:txBody>
      </p:sp>
      <p:sp>
        <p:nvSpPr>
          <p:cNvPr id="4" name="文字方塊 3">
            <a:extLst>
              <a:ext uri="{FF2B5EF4-FFF2-40B4-BE49-F238E27FC236}">
                <a16:creationId xmlns:a16="http://schemas.microsoft.com/office/drawing/2014/main" id="{9314FC7A-5200-2CCF-5D17-0030F891A438}"/>
              </a:ext>
            </a:extLst>
          </p:cNvPr>
          <p:cNvSpPr txBox="1"/>
          <p:nvPr/>
        </p:nvSpPr>
        <p:spPr>
          <a:xfrm>
            <a:off x="4606101" y="4165338"/>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範例輸出</a:t>
            </a:r>
          </a:p>
        </p:txBody>
      </p:sp>
      <p:cxnSp>
        <p:nvCxnSpPr>
          <p:cNvPr id="11" name="直線接點 10">
            <a:extLst>
              <a:ext uri="{FF2B5EF4-FFF2-40B4-BE49-F238E27FC236}">
                <a16:creationId xmlns:a16="http://schemas.microsoft.com/office/drawing/2014/main" id="{7D664E06-4152-8B0E-A65C-069A022E725D}"/>
              </a:ext>
            </a:extLst>
          </p:cNvPr>
          <p:cNvCxnSpPr>
            <a:cxnSpLocks/>
          </p:cNvCxnSpPr>
          <p:nvPr/>
        </p:nvCxnSpPr>
        <p:spPr>
          <a:xfrm>
            <a:off x="4550735" y="4287552"/>
            <a:ext cx="0" cy="220027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1EC3B65D-1511-D7B4-6385-603FC7E57CAD}"/>
              </a:ext>
            </a:extLst>
          </p:cNvPr>
          <p:cNvPicPr>
            <a:picLocks noChangeAspect="1"/>
          </p:cNvPicPr>
          <p:nvPr/>
        </p:nvPicPr>
        <p:blipFill>
          <a:blip r:embed="rId3"/>
          <a:stretch>
            <a:fillRect/>
          </a:stretch>
        </p:blipFill>
        <p:spPr>
          <a:xfrm>
            <a:off x="1319087" y="4287552"/>
            <a:ext cx="2295525" cy="2200275"/>
          </a:xfrm>
          <a:prstGeom prst="rect">
            <a:avLst/>
          </a:prstGeom>
        </p:spPr>
      </p:pic>
      <p:pic>
        <p:nvPicPr>
          <p:cNvPr id="14" name="圖片 13">
            <a:extLst>
              <a:ext uri="{FF2B5EF4-FFF2-40B4-BE49-F238E27FC236}">
                <a16:creationId xmlns:a16="http://schemas.microsoft.com/office/drawing/2014/main" id="{96EF81A1-D40F-3E1E-DC68-37D5750641C0}"/>
              </a:ext>
            </a:extLst>
          </p:cNvPr>
          <p:cNvPicPr>
            <a:picLocks noChangeAspect="1"/>
          </p:cNvPicPr>
          <p:nvPr/>
        </p:nvPicPr>
        <p:blipFill>
          <a:blip r:embed="rId4"/>
          <a:stretch>
            <a:fillRect/>
          </a:stretch>
        </p:blipFill>
        <p:spPr>
          <a:xfrm>
            <a:off x="5104324" y="4287552"/>
            <a:ext cx="1276350" cy="1076325"/>
          </a:xfrm>
          <a:prstGeom prst="rect">
            <a:avLst/>
          </a:prstGeom>
        </p:spPr>
      </p:pic>
    </p:spTree>
    <p:extLst>
      <p:ext uri="{BB962C8B-B14F-4D97-AF65-F5344CB8AC3E}">
        <p14:creationId xmlns:p14="http://schemas.microsoft.com/office/powerpoint/2010/main" val="488013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7" name="矩形: 圓角 6">
            <a:extLst>
              <a:ext uri="{FF2B5EF4-FFF2-40B4-BE49-F238E27FC236}">
                <a16:creationId xmlns:a16="http://schemas.microsoft.com/office/drawing/2014/main" id="{357318A5-3917-E446-0AEB-F894738E65EC}"/>
              </a:ext>
            </a:extLst>
          </p:cNvPr>
          <p:cNvSpPr/>
          <p:nvPr/>
        </p:nvSpPr>
        <p:spPr>
          <a:xfrm>
            <a:off x="766051" y="3941600"/>
            <a:ext cx="10659894" cy="2832872"/>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2" name="表格 8">
            <a:extLst>
              <a:ext uri="{FF2B5EF4-FFF2-40B4-BE49-F238E27FC236}">
                <a16:creationId xmlns:a16="http://schemas.microsoft.com/office/drawing/2014/main" id="{879B1003-ADD0-7C1D-44A6-0E1FC1AE59EE}"/>
              </a:ext>
            </a:extLst>
          </p:cNvPr>
          <p:cNvGraphicFramePr>
            <a:graphicFrameLocks noGrp="1"/>
          </p:cNvGraphicFramePr>
          <p:nvPr>
            <p:extLst>
              <p:ext uri="{D42A27DB-BD31-4B8C-83A1-F6EECF244321}">
                <p14:modId xmlns:p14="http://schemas.microsoft.com/office/powerpoint/2010/main" val="3414578558"/>
              </p:ext>
            </p:extLst>
          </p:nvPr>
        </p:nvGraphicFramePr>
        <p:xfrm>
          <a:off x="1217873" y="4024008"/>
          <a:ext cx="2068031" cy="1688080"/>
        </p:xfrm>
        <a:graphic>
          <a:graphicData uri="http://schemas.openxmlformats.org/drawingml/2006/table">
            <a:tbl>
              <a:tblPr firstRow="1" bandRow="1">
                <a:tableStyleId>{8799B23B-EC83-4686-B30A-512413B5E67A}</a:tableStyleId>
              </a:tblPr>
              <a:tblGrid>
                <a:gridCol w="2068031">
                  <a:extLst>
                    <a:ext uri="{9D8B030D-6E8A-4147-A177-3AD203B41FA5}">
                      <a16:colId xmlns:a16="http://schemas.microsoft.com/office/drawing/2014/main" val="4287010486"/>
                    </a:ext>
                  </a:extLst>
                </a:gridCol>
              </a:tblGrid>
              <a:tr h="17650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Tests</a:t>
                      </a: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1383280">
                <a:tc>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bl>
          </a:graphicData>
        </a:graphic>
      </p:graphicFrame>
      <p:sp>
        <p:nvSpPr>
          <p:cNvPr id="315" name="Google Shape;315;gc5b0074def_0_31"/>
          <p:cNvSpPr txBox="1"/>
          <p:nvPr/>
        </p:nvSpPr>
        <p:spPr>
          <a:xfrm>
            <a:off x="838200" y="26609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Microsoft JhengHei"/>
              <a:buNone/>
            </a:pP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題目</a:t>
            </a:r>
            <a:r>
              <a:rPr lang="en-US" altLang="zh-TW"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#6 –</a:t>
            </a:r>
            <a:r>
              <a:rPr lang="zh-TW" altLang="en-US"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rPr>
              <a:t> 考試通過率</a:t>
            </a:r>
            <a:endParaRPr sz="4400" b="1" dirty="0">
              <a:solidFill>
                <a:schemeClr val="bg1">
                  <a:lumMod val="85000"/>
                </a:schemeClr>
              </a:solidFill>
              <a:latin typeface="Times New Roman" panose="02020603050405020304" pitchFamily="18" charset="0"/>
              <a:ea typeface="微軟正黑體" panose="020B0604030504040204" pitchFamily="34" charset="-120"/>
              <a:cs typeface="Microsoft JhengHei"/>
              <a:sym typeface="Microsoft JhengHei"/>
            </a:endParaRPr>
          </a:p>
        </p:txBody>
      </p:sp>
      <p:sp>
        <p:nvSpPr>
          <p:cNvPr id="5" name="Google Shape;86;p1">
            <a:extLst>
              <a:ext uri="{FF2B5EF4-FFF2-40B4-BE49-F238E27FC236}">
                <a16:creationId xmlns:a16="http://schemas.microsoft.com/office/drawing/2014/main" id="{8CEE353B-5820-5F05-923A-90DAA220A0FB}"/>
              </a:ext>
            </a:extLst>
          </p:cNvPr>
          <p:cNvSpPr txBox="1">
            <a:spLocks noGrp="1"/>
          </p:cNvSpPr>
          <p:nvPr>
            <p:ph type="sldNum" idx="12"/>
          </p:nvPr>
        </p:nvSpPr>
        <p:spPr>
          <a:xfrm>
            <a:off x="8610600" y="6409347"/>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bg1">
                    <a:lumMod val="85000"/>
                  </a:schemeClr>
                </a:solidFill>
                <a:latin typeface="Times New Roman" panose="02020603050405020304" pitchFamily="18" charset="0"/>
                <a:ea typeface="微軟正黑體" panose="020B0604030504040204" pitchFamily="34" charset="-120"/>
              </a:rPr>
              <a:t>8</a:t>
            </a:fld>
            <a:endParaRPr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6" name="矩形: 圓角 5">
            <a:extLst>
              <a:ext uri="{FF2B5EF4-FFF2-40B4-BE49-F238E27FC236}">
                <a16:creationId xmlns:a16="http://schemas.microsoft.com/office/drawing/2014/main" id="{01A207A8-1342-B4F0-6740-F8C95A4D194F}"/>
              </a:ext>
            </a:extLst>
          </p:cNvPr>
          <p:cNvSpPr/>
          <p:nvPr/>
        </p:nvSpPr>
        <p:spPr>
          <a:xfrm>
            <a:off x="766053" y="1377142"/>
            <a:ext cx="4932998" cy="1325700"/>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8">
            <a:extLst>
              <a:ext uri="{FF2B5EF4-FFF2-40B4-BE49-F238E27FC236}">
                <a16:creationId xmlns:a16="http://schemas.microsoft.com/office/drawing/2014/main" id="{95D318D1-F3C5-EB0E-5A9C-86C64118A918}"/>
              </a:ext>
            </a:extLst>
          </p:cNvPr>
          <p:cNvGraphicFramePr>
            <a:graphicFrameLocks noGrp="1"/>
          </p:cNvGraphicFramePr>
          <p:nvPr>
            <p:extLst>
              <p:ext uri="{D42A27DB-BD31-4B8C-83A1-F6EECF244321}">
                <p14:modId xmlns:p14="http://schemas.microsoft.com/office/powerpoint/2010/main" val="3175385916"/>
              </p:ext>
            </p:extLst>
          </p:nvPr>
        </p:nvGraphicFramePr>
        <p:xfrm>
          <a:off x="886837" y="1419934"/>
          <a:ext cx="2324196" cy="1219200"/>
        </p:xfrm>
        <a:graphic>
          <a:graphicData uri="http://schemas.openxmlformats.org/drawingml/2006/table">
            <a:tbl>
              <a:tblPr firstRow="1" bandRow="1">
                <a:tableStyleId>{8799B23B-EC83-4686-B30A-512413B5E67A}</a:tableStyleId>
              </a:tblPr>
              <a:tblGrid>
                <a:gridCol w="1090819">
                  <a:extLst>
                    <a:ext uri="{9D8B030D-6E8A-4147-A177-3AD203B41FA5}">
                      <a16:colId xmlns:a16="http://schemas.microsoft.com/office/drawing/2014/main" val="4287010486"/>
                    </a:ext>
                  </a:extLst>
                </a:gridCol>
                <a:gridCol w="1233377">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Tests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entered_id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place</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VARCHAR</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9" name="文字方塊 8">
            <a:extLst>
              <a:ext uri="{FF2B5EF4-FFF2-40B4-BE49-F238E27FC236}">
                <a16:creationId xmlns:a16="http://schemas.microsoft.com/office/drawing/2014/main" id="{E9F56F7A-D154-0C7E-3D0B-49300B195CA0}"/>
              </a:ext>
            </a:extLst>
          </p:cNvPr>
          <p:cNvSpPr txBox="1"/>
          <p:nvPr/>
        </p:nvSpPr>
        <p:spPr>
          <a:xfrm>
            <a:off x="3259671" y="1419934"/>
            <a:ext cx="2439380" cy="830997"/>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entered_id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，這個資料表的每筆資料紀錄了每場考試的資訊。</a:t>
            </a:r>
          </a:p>
        </p:txBody>
      </p:sp>
      <p:sp>
        <p:nvSpPr>
          <p:cNvPr id="10" name="文字方塊 9">
            <a:extLst>
              <a:ext uri="{FF2B5EF4-FFF2-40B4-BE49-F238E27FC236}">
                <a16:creationId xmlns:a16="http://schemas.microsoft.com/office/drawing/2014/main" id="{A9135A42-A20E-5498-7397-FE84BD653CEA}"/>
              </a:ext>
            </a:extLst>
          </p:cNvPr>
          <p:cNvSpPr txBox="1"/>
          <p:nvPr/>
        </p:nvSpPr>
        <p:spPr>
          <a:xfrm>
            <a:off x="766051" y="2976664"/>
            <a:ext cx="10659893" cy="873316"/>
          </a:xfrm>
          <a:prstGeom prst="rect">
            <a:avLst/>
          </a:prstGeom>
          <a:noFill/>
        </p:spPr>
        <p:txBody>
          <a:bodyPr wrap="square" rtlCol="0">
            <a:spAutoFit/>
          </a:bodyPr>
          <a:lstStyle/>
          <a:p>
            <a:pPr>
              <a:lnSpc>
                <a:spcPct val="150000"/>
              </a:lnSpc>
            </a:pPr>
            <a:r>
              <a:rPr lang="en-US" altLang="zh-TW" sz="1800" dirty="0">
                <a:solidFill>
                  <a:srgbClr val="FFC000"/>
                </a:solidFill>
                <a:latin typeface="Times New Roman" panose="02020603050405020304" pitchFamily="18" charset="0"/>
                <a:ea typeface="微軟正黑體" panose="020B0604030504040204" pitchFamily="34" charset="-120"/>
              </a:rPr>
              <a:t>【Medium - 30%】</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某證照考試機構想調查每個場次的通過率。請撰寫一個 </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SQL </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查詢，列出每個場次的通過率，若某個場次沒有考生報名，其場次資料依然需要顯示出來，值可以為</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0</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或</a:t>
            </a:r>
            <a:r>
              <a:rPr lang="en-US" altLang="zh-TW" sz="1800" dirty="0">
                <a:solidFill>
                  <a:schemeClr val="bg1">
                    <a:lumMod val="85000"/>
                  </a:schemeClr>
                </a:solidFill>
                <a:latin typeface="Times New Roman" panose="02020603050405020304" pitchFamily="18" charset="0"/>
                <a:ea typeface="微軟正黑體" panose="020B0604030504040204" pitchFamily="34" charset="-120"/>
              </a:rPr>
              <a:t>NULL</a:t>
            </a:r>
            <a:r>
              <a:rPr lang="zh-TW" altLang="en-US" sz="1800" dirty="0">
                <a:solidFill>
                  <a:schemeClr val="bg1">
                    <a:lumMod val="85000"/>
                  </a:schemeClr>
                </a:solidFill>
                <a:latin typeface="Times New Roman" panose="02020603050405020304" pitchFamily="18" charset="0"/>
                <a:ea typeface="微軟正黑體" panose="020B0604030504040204" pitchFamily="34" charset="-120"/>
              </a:rPr>
              <a:t>。</a:t>
            </a:r>
            <a:endParaRPr lang="zh-TW" altLang="en-US" sz="1800" baseline="0" dirty="0">
              <a:solidFill>
                <a:schemeClr val="bg1">
                  <a:lumMod val="85000"/>
                </a:schemeClr>
              </a:solidFill>
              <a:latin typeface="Times New Roman" panose="02020603050405020304" pitchFamily="18" charset="0"/>
              <a:ea typeface="微軟正黑體" panose="020B0604030504040204" pitchFamily="34" charset="-120"/>
            </a:endParaRPr>
          </a:p>
        </p:txBody>
      </p:sp>
      <p:sp>
        <p:nvSpPr>
          <p:cNvPr id="2" name="矩形: 圓角 1">
            <a:extLst>
              <a:ext uri="{FF2B5EF4-FFF2-40B4-BE49-F238E27FC236}">
                <a16:creationId xmlns:a16="http://schemas.microsoft.com/office/drawing/2014/main" id="{BC102FDF-C4AA-7E59-68C2-D96CFFB9A34A}"/>
              </a:ext>
            </a:extLst>
          </p:cNvPr>
          <p:cNvSpPr/>
          <p:nvPr/>
        </p:nvSpPr>
        <p:spPr>
          <a:xfrm>
            <a:off x="6005656" y="1374180"/>
            <a:ext cx="5348144" cy="1602483"/>
          </a:xfrm>
          <a:prstGeom prst="roundRect">
            <a:avLst>
              <a:gd name="adj" fmla="val 2419"/>
            </a:avLst>
          </a:prstGeom>
          <a:solidFill>
            <a:schemeClr val="tx2">
              <a:lumMod val="1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 name="表格 8">
            <a:extLst>
              <a:ext uri="{FF2B5EF4-FFF2-40B4-BE49-F238E27FC236}">
                <a16:creationId xmlns:a16="http://schemas.microsoft.com/office/drawing/2014/main" id="{CE47CAEB-E4C9-7525-5239-DE97EBBD60C1}"/>
              </a:ext>
            </a:extLst>
          </p:cNvPr>
          <p:cNvGraphicFramePr>
            <a:graphicFrameLocks noGrp="1"/>
          </p:cNvGraphicFramePr>
          <p:nvPr>
            <p:extLst>
              <p:ext uri="{D42A27DB-BD31-4B8C-83A1-F6EECF244321}">
                <p14:modId xmlns:p14="http://schemas.microsoft.com/office/powerpoint/2010/main" val="204636850"/>
              </p:ext>
            </p:extLst>
          </p:nvPr>
        </p:nvGraphicFramePr>
        <p:xfrm>
          <a:off x="6126440" y="1416973"/>
          <a:ext cx="2324196" cy="1524000"/>
        </p:xfrm>
        <a:graphic>
          <a:graphicData uri="http://schemas.openxmlformats.org/drawingml/2006/table">
            <a:tbl>
              <a:tblPr firstRow="1" bandRow="1">
                <a:tableStyleId>{8799B23B-EC83-4686-B30A-512413B5E67A}</a:tableStyleId>
              </a:tblPr>
              <a:tblGrid>
                <a:gridCol w="1199393">
                  <a:extLst>
                    <a:ext uri="{9D8B030D-6E8A-4147-A177-3AD203B41FA5}">
                      <a16:colId xmlns:a16="http://schemas.microsoft.com/office/drawing/2014/main" val="4287010486"/>
                    </a:ext>
                  </a:extLst>
                </a:gridCol>
                <a:gridCol w="1124803">
                  <a:extLst>
                    <a:ext uri="{9D8B030D-6E8A-4147-A177-3AD203B41FA5}">
                      <a16:colId xmlns:a16="http://schemas.microsoft.com/office/drawing/2014/main" val="3005237425"/>
                    </a:ext>
                  </a:extLst>
                </a:gridCol>
              </a:tblGrid>
              <a:tr h="277763">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Signups</a:t>
                      </a:r>
                    </a:p>
                  </a:txBody>
                  <a:tcPr anchor="ctr">
                    <a:lnB w="12700" cap="flat" cmpd="sng" algn="ctr">
                      <a:solidFill>
                        <a:schemeClr val="bg1">
                          <a:lumMod val="85000"/>
                        </a:schemeClr>
                      </a:solidFill>
                      <a:prstDash val="solid"/>
                      <a:round/>
                      <a:headEnd type="none" w="med" len="med"/>
                      <a:tailEnd type="none" w="med" len="med"/>
                    </a:lnB>
                    <a:noFill/>
                  </a:tcPr>
                </a:tc>
                <a:tc hMerge="1">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277763">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欄位名稱</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rPr>
                        <a:t>型別</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examinee_id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94231832"/>
                  </a:ext>
                </a:extLst>
              </a:tr>
              <a:tr h="277763">
                <a:tc>
                  <a:txBody>
                    <a:bodyPr/>
                    <a:lstStyle/>
                    <a:p>
                      <a:r>
                        <a:rPr lang="en-US" altLang="zh-TW" sz="1400" baseline="0" dirty="0" err="1">
                          <a:solidFill>
                            <a:schemeClr val="bg1">
                              <a:lumMod val="85000"/>
                            </a:schemeClr>
                          </a:solidFill>
                          <a:latin typeface="Times New Roman" panose="02020603050405020304" pitchFamily="18" charset="0"/>
                          <a:ea typeface="微軟正黑體" panose="020B0604030504040204" pitchFamily="34" charset="-120"/>
                        </a:rPr>
                        <a:t>test_id</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INT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382002"/>
                  </a:ext>
                </a:extLst>
              </a:tr>
              <a:tr h="277763">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result</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sz="1400" baseline="0" dirty="0">
                          <a:solidFill>
                            <a:schemeClr val="bg1">
                              <a:lumMod val="85000"/>
                            </a:schemeClr>
                          </a:solidFill>
                          <a:latin typeface="Times New Roman" panose="02020603050405020304" pitchFamily="18" charset="0"/>
                          <a:ea typeface="微軟正黑體" panose="020B0604030504040204" pitchFamily="34" charset="-120"/>
                        </a:rPr>
                        <a:t>BOOLEAN</a:t>
                      </a:r>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10648"/>
                  </a:ext>
                </a:extLst>
              </a:tr>
            </a:tbl>
          </a:graphicData>
        </a:graphic>
      </p:graphicFrame>
      <p:sp>
        <p:nvSpPr>
          <p:cNvPr id="4" name="文字方塊 3">
            <a:extLst>
              <a:ext uri="{FF2B5EF4-FFF2-40B4-BE49-F238E27FC236}">
                <a16:creationId xmlns:a16="http://schemas.microsoft.com/office/drawing/2014/main" id="{D2C35445-3D6C-BD78-FBC4-3226822FAC3B}"/>
              </a:ext>
            </a:extLst>
          </p:cNvPr>
          <p:cNvSpPr txBox="1"/>
          <p:nvPr/>
        </p:nvSpPr>
        <p:spPr>
          <a:xfrm>
            <a:off x="8499273" y="1416973"/>
            <a:ext cx="2805889" cy="830997"/>
          </a:xfrm>
          <a:prstGeom prst="rect">
            <a:avLst/>
          </a:prstGeom>
          <a:noFill/>
        </p:spPr>
        <p:txBody>
          <a:bodyPr wrap="square" rtlCol="0">
            <a:spAutoFit/>
          </a:bodyPr>
          <a:lstStyle/>
          <a:p>
            <a:pPr>
              <a:spcAft>
                <a:spcPts val="600"/>
              </a:spcAft>
            </a:pP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主鍵為</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examinee_id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及</a:t>
            </a:r>
            <a:r>
              <a:rPr lang="en-US" altLang="zh-TW" sz="1600" baseline="0" dirty="0" err="1">
                <a:solidFill>
                  <a:schemeClr val="bg1">
                    <a:lumMod val="85000"/>
                  </a:schemeClr>
                </a:solidFill>
                <a:latin typeface="Times New Roman" panose="02020603050405020304" pitchFamily="18" charset="0"/>
                <a:ea typeface="微軟正黑體" panose="020B0604030504040204" pitchFamily="34" charset="-120"/>
              </a:rPr>
              <a:t>test_id</a:t>
            </a:r>
            <a:r>
              <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rPr>
              <a:t>，這個資料表的每筆資料紀錄考生報考的場次及通過結果</a:t>
            </a:r>
            <a:r>
              <a:rPr lang="zh-TW" altLang="en-US" sz="1600" dirty="0">
                <a:solidFill>
                  <a:schemeClr val="bg1">
                    <a:lumMod val="85000"/>
                  </a:schemeClr>
                </a:solidFill>
                <a:latin typeface="Times New Roman" panose="02020603050405020304" pitchFamily="18" charset="0"/>
                <a:ea typeface="微軟正黑體" panose="020B0604030504040204" pitchFamily="34" charset="-120"/>
              </a:rPr>
              <a:t>。</a:t>
            </a:r>
            <a:endParaRPr lang="zh-TW" altLang="en-US" sz="1600" baseline="0" dirty="0">
              <a:solidFill>
                <a:schemeClr val="bg1">
                  <a:lumMod val="85000"/>
                </a:schemeClr>
              </a:solidFill>
              <a:latin typeface="Times New Roman" panose="02020603050405020304" pitchFamily="18" charset="0"/>
              <a:ea typeface="微軟正黑體" panose="020B0604030504040204" pitchFamily="34" charset="-120"/>
            </a:endParaRPr>
          </a:p>
        </p:txBody>
      </p:sp>
      <p:graphicFrame>
        <p:nvGraphicFramePr>
          <p:cNvPr id="13" name="表格 8">
            <a:extLst>
              <a:ext uri="{FF2B5EF4-FFF2-40B4-BE49-F238E27FC236}">
                <a16:creationId xmlns:a16="http://schemas.microsoft.com/office/drawing/2014/main" id="{70C41803-CB26-923D-0250-9C115709F709}"/>
              </a:ext>
            </a:extLst>
          </p:cNvPr>
          <p:cNvGraphicFramePr>
            <a:graphicFrameLocks noGrp="1"/>
          </p:cNvGraphicFramePr>
          <p:nvPr>
            <p:extLst>
              <p:ext uri="{D42A27DB-BD31-4B8C-83A1-F6EECF244321}">
                <p14:modId xmlns:p14="http://schemas.microsoft.com/office/powerpoint/2010/main" val="2818991930"/>
              </p:ext>
            </p:extLst>
          </p:nvPr>
        </p:nvGraphicFramePr>
        <p:xfrm>
          <a:off x="3497218" y="4022024"/>
          <a:ext cx="3094964" cy="1967392"/>
        </p:xfrm>
        <a:graphic>
          <a:graphicData uri="http://schemas.openxmlformats.org/drawingml/2006/table">
            <a:tbl>
              <a:tblPr firstRow="1" bandRow="1">
                <a:tableStyleId>{8799B23B-EC83-4686-B30A-512413B5E67A}</a:tableStyleId>
              </a:tblPr>
              <a:tblGrid>
                <a:gridCol w="3094964">
                  <a:extLst>
                    <a:ext uri="{9D8B030D-6E8A-4147-A177-3AD203B41FA5}">
                      <a16:colId xmlns:a16="http://schemas.microsoft.com/office/drawing/2014/main" val="4287010486"/>
                    </a:ext>
                  </a:extLst>
                </a:gridCol>
              </a:tblGrid>
              <a:tr h="31968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i="0" u="none" strike="noStrike" cap="none" dirty="0">
                          <a:solidFill>
                            <a:schemeClr val="bg1">
                              <a:lumMod val="85000"/>
                            </a:schemeClr>
                          </a:solidFill>
                          <a:effectLst/>
                          <a:latin typeface="微軟正黑體" panose="020B0604030504040204" pitchFamily="34" charset="-120"/>
                          <a:ea typeface="微軟正黑體" panose="020B0604030504040204" pitchFamily="34" charset="-120"/>
                          <a:cs typeface="+mn-cs"/>
                          <a:sym typeface="Arial"/>
                        </a:rPr>
                        <a:t>Signups</a:t>
                      </a:r>
                    </a:p>
                  </a:txBody>
                  <a:tcPr anchor="ctr">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93319186"/>
                  </a:ext>
                </a:extLst>
              </a:tr>
              <a:tr h="1647704">
                <a:tc>
                  <a:txBody>
                    <a:bodyPr/>
                    <a:lstStyle/>
                    <a:p>
                      <a:endParaRPr lang="zh-TW" altLang="en-US" sz="1400" baseline="0" dirty="0">
                        <a:solidFill>
                          <a:schemeClr val="bg1">
                            <a:lumMod val="85000"/>
                          </a:schemeClr>
                        </a:solidFill>
                        <a:latin typeface="Times New Roman" panose="02020603050405020304" pitchFamily="18" charset="0"/>
                        <a:ea typeface="微軟正黑體" panose="020B0604030504040204" pitchFamily="34" charset="-120"/>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49114329"/>
                  </a:ext>
                </a:extLst>
              </a:tr>
            </a:tbl>
          </a:graphicData>
        </a:graphic>
      </p:graphicFrame>
      <p:sp>
        <p:nvSpPr>
          <p:cNvPr id="18" name="文字方塊 17">
            <a:extLst>
              <a:ext uri="{FF2B5EF4-FFF2-40B4-BE49-F238E27FC236}">
                <a16:creationId xmlns:a16="http://schemas.microsoft.com/office/drawing/2014/main" id="{82ADD05E-D384-056D-FCF4-85E55CD60DD6}"/>
              </a:ext>
            </a:extLst>
          </p:cNvPr>
          <p:cNvSpPr txBox="1"/>
          <p:nvPr/>
        </p:nvSpPr>
        <p:spPr>
          <a:xfrm>
            <a:off x="766051" y="3984583"/>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範例輸入</a:t>
            </a:r>
          </a:p>
        </p:txBody>
      </p:sp>
      <p:sp>
        <p:nvSpPr>
          <p:cNvPr id="19" name="文字方塊 18">
            <a:extLst>
              <a:ext uri="{FF2B5EF4-FFF2-40B4-BE49-F238E27FC236}">
                <a16:creationId xmlns:a16="http://schemas.microsoft.com/office/drawing/2014/main" id="{437561AC-C01B-3258-0D7C-39E1B8B64A2F}"/>
              </a:ext>
            </a:extLst>
          </p:cNvPr>
          <p:cNvSpPr txBox="1"/>
          <p:nvPr/>
        </p:nvSpPr>
        <p:spPr>
          <a:xfrm>
            <a:off x="6956415" y="3941600"/>
            <a:ext cx="430887" cy="1183207"/>
          </a:xfrm>
          <a:prstGeom prst="rect">
            <a:avLst/>
          </a:prstGeom>
          <a:noFill/>
        </p:spPr>
        <p:txBody>
          <a:bodyPr vert="eaVert" wrap="square" rtlCol="0">
            <a:spAutoFit/>
          </a:bodyP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範例輸出</a:t>
            </a:r>
          </a:p>
        </p:txBody>
      </p:sp>
      <p:cxnSp>
        <p:nvCxnSpPr>
          <p:cNvPr id="20" name="直線接點 19">
            <a:extLst>
              <a:ext uri="{FF2B5EF4-FFF2-40B4-BE49-F238E27FC236}">
                <a16:creationId xmlns:a16="http://schemas.microsoft.com/office/drawing/2014/main" id="{599888D1-7FCF-F1C6-FCBC-7B667E648125}"/>
              </a:ext>
            </a:extLst>
          </p:cNvPr>
          <p:cNvCxnSpPr>
            <a:cxnSpLocks/>
          </p:cNvCxnSpPr>
          <p:nvPr/>
        </p:nvCxnSpPr>
        <p:spPr>
          <a:xfrm>
            <a:off x="6885687" y="4093534"/>
            <a:ext cx="0" cy="256397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圖片 14">
            <a:extLst>
              <a:ext uri="{FF2B5EF4-FFF2-40B4-BE49-F238E27FC236}">
                <a16:creationId xmlns:a16="http://schemas.microsoft.com/office/drawing/2014/main" id="{1AD8E8FB-C39C-2D45-2E03-11D618BC1CA9}"/>
              </a:ext>
            </a:extLst>
          </p:cNvPr>
          <p:cNvPicPr>
            <a:picLocks noChangeAspect="1"/>
          </p:cNvPicPr>
          <p:nvPr/>
        </p:nvPicPr>
        <p:blipFill>
          <a:blip r:embed="rId3"/>
          <a:stretch>
            <a:fillRect/>
          </a:stretch>
        </p:blipFill>
        <p:spPr>
          <a:xfrm>
            <a:off x="1247554" y="4389187"/>
            <a:ext cx="2038350" cy="1247775"/>
          </a:xfrm>
          <a:prstGeom prst="rect">
            <a:avLst/>
          </a:prstGeom>
        </p:spPr>
      </p:pic>
      <p:pic>
        <p:nvPicPr>
          <p:cNvPr id="21" name="圖片 20">
            <a:extLst>
              <a:ext uri="{FF2B5EF4-FFF2-40B4-BE49-F238E27FC236}">
                <a16:creationId xmlns:a16="http://schemas.microsoft.com/office/drawing/2014/main" id="{5888921C-AEE1-9018-B1E7-F90798169E97}"/>
              </a:ext>
            </a:extLst>
          </p:cNvPr>
          <p:cNvPicPr>
            <a:picLocks noChangeAspect="1"/>
          </p:cNvPicPr>
          <p:nvPr/>
        </p:nvPicPr>
        <p:blipFill>
          <a:blip r:embed="rId4"/>
          <a:stretch>
            <a:fillRect/>
          </a:stretch>
        </p:blipFill>
        <p:spPr>
          <a:xfrm>
            <a:off x="3562572" y="4360641"/>
            <a:ext cx="2962275" cy="1628775"/>
          </a:xfrm>
          <a:prstGeom prst="rect">
            <a:avLst/>
          </a:prstGeom>
        </p:spPr>
      </p:pic>
      <p:pic>
        <p:nvPicPr>
          <p:cNvPr id="24" name="圖片 23">
            <a:extLst>
              <a:ext uri="{FF2B5EF4-FFF2-40B4-BE49-F238E27FC236}">
                <a16:creationId xmlns:a16="http://schemas.microsoft.com/office/drawing/2014/main" id="{0AB827B2-5741-A65D-DFF2-C7F96BFA04CF}"/>
              </a:ext>
            </a:extLst>
          </p:cNvPr>
          <p:cNvPicPr>
            <a:picLocks noChangeAspect="1"/>
          </p:cNvPicPr>
          <p:nvPr/>
        </p:nvPicPr>
        <p:blipFill>
          <a:blip r:embed="rId5"/>
          <a:stretch>
            <a:fillRect/>
          </a:stretch>
        </p:blipFill>
        <p:spPr>
          <a:xfrm>
            <a:off x="7440986" y="4000758"/>
            <a:ext cx="2019300" cy="1228725"/>
          </a:xfrm>
          <a:prstGeom prst="rect">
            <a:avLst/>
          </a:prstGeom>
        </p:spPr>
      </p:pic>
      <p:sp>
        <p:nvSpPr>
          <p:cNvPr id="25" name="文字方塊 24">
            <a:extLst>
              <a:ext uri="{FF2B5EF4-FFF2-40B4-BE49-F238E27FC236}">
                <a16:creationId xmlns:a16="http://schemas.microsoft.com/office/drawing/2014/main" id="{89CA575C-E24E-5921-AC9A-9DF34ED8B2CC}"/>
              </a:ext>
            </a:extLst>
          </p:cNvPr>
          <p:cNvSpPr txBox="1"/>
          <p:nvPr/>
        </p:nvSpPr>
        <p:spPr>
          <a:xfrm>
            <a:off x="7496463" y="5229483"/>
            <a:ext cx="1908346" cy="307777"/>
          </a:xfrm>
          <a:prstGeom prst="rect">
            <a:avLst/>
          </a:prstGeom>
          <a:noFill/>
        </p:spPr>
        <p:txBody>
          <a:bodyPr wrap="square" rtlCol="0">
            <a:spAutoFit/>
          </a:bodyPr>
          <a:lstStyle/>
          <a:p>
            <a:pPr algn="ctr"/>
            <a:r>
              <a:rPr lang="en-US" altLang="zh-TW" b="1" dirty="0">
                <a:solidFill>
                  <a:schemeClr val="bg1"/>
                </a:solidFill>
                <a:latin typeface="微軟正黑體" panose="020B0604030504040204" pitchFamily="34" charset="-120"/>
                <a:ea typeface="微軟正黑體" panose="020B0604030504040204" pitchFamily="34" charset="-120"/>
              </a:rPr>
              <a:t>-----</a:t>
            </a:r>
            <a:r>
              <a:rPr lang="zh-TW" altLang="en-US" b="1" dirty="0">
                <a:solidFill>
                  <a:schemeClr val="bg1"/>
                </a:solidFill>
                <a:latin typeface="微軟正黑體" panose="020B0604030504040204" pitchFamily="34" charset="-120"/>
                <a:ea typeface="微軟正黑體" panose="020B0604030504040204" pitchFamily="34" charset="-120"/>
              </a:rPr>
              <a:t> 或 </a:t>
            </a:r>
            <a:r>
              <a:rPr lang="en-US" altLang="zh-TW" b="1" dirty="0">
                <a:solidFill>
                  <a:schemeClr val="bg1"/>
                </a:solidFill>
                <a:latin typeface="微軟正黑體" panose="020B0604030504040204" pitchFamily="34" charset="-120"/>
                <a:ea typeface="微軟正黑體" panose="020B0604030504040204" pitchFamily="34" charset="-120"/>
              </a:rPr>
              <a:t>-----</a:t>
            </a:r>
            <a:endParaRPr lang="zh-TW" altLang="en-US" b="1" dirty="0">
              <a:solidFill>
                <a:schemeClr val="bg1"/>
              </a:solidFill>
              <a:latin typeface="微軟正黑體" panose="020B0604030504040204" pitchFamily="34" charset="-120"/>
              <a:ea typeface="微軟正黑體" panose="020B0604030504040204" pitchFamily="34" charset="-120"/>
            </a:endParaRPr>
          </a:p>
        </p:txBody>
      </p:sp>
      <p:pic>
        <p:nvPicPr>
          <p:cNvPr id="29" name="圖片 28">
            <a:extLst>
              <a:ext uri="{FF2B5EF4-FFF2-40B4-BE49-F238E27FC236}">
                <a16:creationId xmlns:a16="http://schemas.microsoft.com/office/drawing/2014/main" id="{E89AF433-632A-DB7D-73FE-5A1E9632D64E}"/>
              </a:ext>
            </a:extLst>
          </p:cNvPr>
          <p:cNvPicPr>
            <a:picLocks noChangeAspect="1"/>
          </p:cNvPicPr>
          <p:nvPr/>
        </p:nvPicPr>
        <p:blipFill>
          <a:blip r:embed="rId6"/>
          <a:stretch>
            <a:fillRect/>
          </a:stretch>
        </p:blipFill>
        <p:spPr>
          <a:xfrm>
            <a:off x="7480098" y="5510684"/>
            <a:ext cx="2038350" cy="1228725"/>
          </a:xfrm>
          <a:prstGeom prst="rect">
            <a:avLst/>
          </a:prstGeom>
        </p:spPr>
      </p:pic>
    </p:spTree>
    <p:extLst>
      <p:ext uri="{BB962C8B-B14F-4D97-AF65-F5344CB8AC3E}">
        <p14:creationId xmlns:p14="http://schemas.microsoft.com/office/powerpoint/2010/main" val="1266095157"/>
      </p:ext>
    </p:extLst>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3826</TotalTime>
  <Words>928</Words>
  <Application>Microsoft Office PowerPoint</Application>
  <PresentationFormat>寬螢幕</PresentationFormat>
  <Paragraphs>120</Paragraphs>
  <Slides>8</Slides>
  <Notes>8</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Microsoft JhengHei</vt:lpstr>
      <vt:lpstr>Microsoft JhengHei</vt:lpstr>
      <vt:lpstr>Arial</vt:lpstr>
      <vt:lpstr>Calibri</vt:lpstr>
      <vt:lpstr>Times New Roman</vt:lpstr>
      <vt:lpstr>Office 佈景主題</vt:lpstr>
      <vt:lpstr>112/05/24 資料庫系統期末測驗</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資料庫實作-MariaDB</dc:title>
  <dc:creator>李泰樂</dc:creator>
  <cp:lastModifiedBy>TaiLe Li</cp:lastModifiedBy>
  <cp:revision>149</cp:revision>
  <dcterms:created xsi:type="dcterms:W3CDTF">2021-03-04T04:52:00Z</dcterms:created>
  <dcterms:modified xsi:type="dcterms:W3CDTF">2023-05-23T06:40:07Z</dcterms:modified>
</cp:coreProperties>
</file>